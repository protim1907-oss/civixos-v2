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0"/>
            <a:ext cx="4297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CIVIX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365760" y="2240280"/>
            <a:ext cx="4297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0" b="1" spc="4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</a:t>
            </a:r>
            <a:endParaRPr lang="en-US" sz="7400" dirty="0"/>
          </a:p>
        </p:txBody>
      </p:sp>
      <p:sp>
        <p:nvSpPr>
          <p:cNvPr id="5" name="Shape 3"/>
          <p:cNvSpPr/>
          <p:nvPr/>
        </p:nvSpPr>
        <p:spPr>
          <a:xfrm>
            <a:off x="365760" y="3246120"/>
            <a:ext cx="3291840" cy="36576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3383280"/>
            <a:ext cx="4297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America's Civic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Platform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65760" y="4498848"/>
            <a:ext cx="2926080" cy="402336"/>
          </a:xfrm>
          <a:prstGeom prst="roundRect">
            <a:avLst>
              <a:gd name="adj" fmla="val 18182"/>
            </a:avLst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4498848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PARTNERSHIP PROPOSAL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" y="6309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civix250.ai  ·  2026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03520" y="1371600"/>
            <a:ext cx="64922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civic education, legislative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tracking, and community engagement —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America's 250th anniversary.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303520" y="3246120"/>
            <a:ext cx="1993392" cy="1325880"/>
          </a:xfrm>
          <a:prstGeom prst="roundRect">
            <a:avLst>
              <a:gd name="adj" fmla="val 9655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03520" y="3337560"/>
            <a:ext cx="19933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50+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303520" y="3968496"/>
            <a:ext cx="19933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516368" y="3246120"/>
            <a:ext cx="1993392" cy="1325880"/>
          </a:xfrm>
          <a:prstGeom prst="roundRect">
            <a:avLst>
              <a:gd name="adj" fmla="val 9655"/>
            </a:avLst>
          </a:prstGeom>
          <a:solidFill>
            <a:srgbClr val="FEF9C3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16368" y="3337560"/>
            <a:ext cx="19933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7516368" y="3968496"/>
            <a:ext cx="19933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729216" y="3246120"/>
            <a:ext cx="1993392" cy="1325880"/>
          </a:xfrm>
          <a:prstGeom prst="roundRect">
            <a:avLst>
              <a:gd name="adj" fmla="val 9655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29216" y="3337560"/>
            <a:ext cx="19933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9729216" y="3968496"/>
            <a:ext cx="19933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303520" y="4846320"/>
            <a:ext cx="6492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citizens, officials, and communities through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tools built for transparency and accountability.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1188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CIVIC CRISIS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20624"/>
            <a:ext cx="109728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Nation Unprepared for Its Own Democracy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3566160" cy="3840480"/>
          </a:xfrm>
          <a:prstGeom prst="roundRect">
            <a:avLst>
              <a:gd name="adj" fmla="val 41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71600"/>
            <a:ext cx="3566160" cy="91440"/>
          </a:xfrm>
          <a:prstGeom prst="roundRect">
            <a:avLst>
              <a:gd name="adj" fmla="val 160000"/>
            </a:avLst>
          </a:prstGeom>
          <a:solidFill>
            <a:srgbClr val="16A34A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417320"/>
            <a:ext cx="356616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572768"/>
            <a:ext cx="356616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</a:t>
            </a:r>
            <a:endParaRPr lang="en-US" sz="8400" dirty="0"/>
          </a:p>
        </p:txBody>
      </p:sp>
      <p:sp>
        <p:nvSpPr>
          <p:cNvPr id="10" name="Text 8"/>
          <p:cNvSpPr/>
          <p:nvPr/>
        </p:nvSpPr>
        <p:spPr>
          <a:xfrm>
            <a:off x="594360" y="3054096"/>
            <a:ext cx="32918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Americans can name all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branches of government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297680" y="1371600"/>
            <a:ext cx="3566160" cy="3840480"/>
          </a:xfrm>
          <a:prstGeom prst="roundRect">
            <a:avLst>
              <a:gd name="adj" fmla="val 4103"/>
            </a:avLst>
          </a:prstGeom>
          <a:solidFill>
            <a:srgbClr val="FEF9C3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97680" y="1371600"/>
            <a:ext cx="3566160" cy="91440"/>
          </a:xfrm>
          <a:prstGeom prst="roundRect">
            <a:avLst>
              <a:gd name="adj" fmla="val 160000"/>
            </a:avLst>
          </a:prstGeom>
          <a:solidFill>
            <a:srgbClr val="D97706"/>
          </a:solidFill>
          <a:ln/>
        </p:spPr>
      </p:sp>
      <p:sp>
        <p:nvSpPr>
          <p:cNvPr id="13" name="Shape 11"/>
          <p:cNvSpPr/>
          <p:nvPr/>
        </p:nvSpPr>
        <p:spPr>
          <a:xfrm>
            <a:off x="4297680" y="1417320"/>
            <a:ext cx="356616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4" name="Text 12"/>
          <p:cNvSpPr/>
          <p:nvPr/>
        </p:nvSpPr>
        <p:spPr>
          <a:xfrm>
            <a:off x="4297680" y="1572768"/>
            <a:ext cx="356616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8400" dirty="0"/>
          </a:p>
        </p:txBody>
      </p:sp>
      <p:sp>
        <p:nvSpPr>
          <p:cNvPr id="15" name="Text 13"/>
          <p:cNvSpPr/>
          <p:nvPr/>
        </p:nvSpPr>
        <p:spPr>
          <a:xfrm>
            <a:off x="4434840" y="3054096"/>
            <a:ext cx="32918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eligible voters under 30 did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vote in 2022 midterms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138160" y="1371600"/>
            <a:ext cx="3566160" cy="3840480"/>
          </a:xfrm>
          <a:prstGeom prst="roundRect">
            <a:avLst>
              <a:gd name="adj" fmla="val 41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38160" y="1371600"/>
            <a:ext cx="3566160" cy="91440"/>
          </a:xfrm>
          <a:prstGeom prst="roundRect">
            <a:avLst>
              <a:gd name="adj" fmla="val 160000"/>
            </a:avLst>
          </a:prstGeom>
          <a:solidFill>
            <a:srgbClr val="DC2626"/>
          </a:solidFill>
          <a:ln/>
        </p:spPr>
      </p:sp>
      <p:sp>
        <p:nvSpPr>
          <p:cNvPr id="18" name="Shape 16"/>
          <p:cNvSpPr/>
          <p:nvPr/>
        </p:nvSpPr>
        <p:spPr>
          <a:xfrm>
            <a:off x="8138160" y="1417320"/>
            <a:ext cx="356616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9" name="Text 17"/>
          <p:cNvSpPr/>
          <p:nvPr/>
        </p:nvSpPr>
        <p:spPr>
          <a:xfrm>
            <a:off x="8138160" y="1572768"/>
            <a:ext cx="356616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77%</a:t>
            </a:r>
            <a:endParaRPr lang="en-US" sz="8400" dirty="0"/>
          </a:p>
        </p:txBody>
      </p:sp>
      <p:sp>
        <p:nvSpPr>
          <p:cNvPr id="20" name="Text 18"/>
          <p:cNvSpPr/>
          <p:nvPr/>
        </p:nvSpPr>
        <p:spPr>
          <a:xfrm>
            <a:off x="8275320" y="3054096"/>
            <a:ext cx="32918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teachers say students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lack basic civics knowledge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57200" y="5394960"/>
            <a:ext cx="11274552" cy="749808"/>
          </a:xfrm>
          <a:prstGeom prst="roundRect">
            <a:avLst>
              <a:gd name="adj" fmla="val 14634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" y="5394960"/>
            <a:ext cx="182880" cy="7498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3" name="Text 21"/>
          <p:cNvSpPr/>
          <p:nvPr/>
        </p:nvSpPr>
        <p:spPr>
          <a:xfrm>
            <a:off x="804672" y="5394960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America approaches its 250th birthday, civic illiteracy has reached a national crisis — and no scalable, AI-powered solution exists to address it.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0" y="6638544"/>
            <a:ext cx="12188952" cy="21945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6638544"/>
            <a:ext cx="201168" cy="21945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6" name="Text 24"/>
          <p:cNvSpPr/>
          <p:nvPr/>
        </p:nvSpPr>
        <p:spPr>
          <a:xfrm>
            <a:off x="365760" y="6638544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civix250.ai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OVERVIEW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38912"/>
            <a:ext cx="10972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Platform. Every Dimension of Civic Life.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47472" y="1371600"/>
            <a:ext cx="3621024" cy="2395728"/>
          </a:xfrm>
          <a:prstGeom prst="roundRect">
            <a:avLst>
              <a:gd name="adj" fmla="val 53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CBD5E1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47472" y="1371600"/>
            <a:ext cx="3621024" cy="73152"/>
          </a:xfrm>
          <a:prstGeom prst="roundRect">
            <a:avLst>
              <a:gd name="adj" fmla="val 175000"/>
            </a:avLst>
          </a:prstGeom>
          <a:solidFill>
            <a:srgbClr val="2563EB"/>
          </a:solidFill>
          <a:ln/>
        </p:spPr>
      </p:sp>
      <p:sp>
        <p:nvSpPr>
          <p:cNvPr id="8" name="Shape 6"/>
          <p:cNvSpPr/>
          <p:nvPr/>
        </p:nvSpPr>
        <p:spPr>
          <a:xfrm>
            <a:off x="347472" y="1408176"/>
            <a:ext cx="3621024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9" name="Shape 7"/>
          <p:cNvSpPr/>
          <p:nvPr/>
        </p:nvSpPr>
        <p:spPr>
          <a:xfrm>
            <a:off x="530352" y="1536192"/>
            <a:ext cx="530352" cy="530352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10" name="Text 8"/>
          <p:cNvSpPr/>
          <p:nvPr/>
        </p:nvSpPr>
        <p:spPr>
          <a:xfrm>
            <a:off x="512064" y="151790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🎓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70432" y="15544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Civic Tutor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12064" y="2176272"/>
            <a:ext cx="3310128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Personalized learning paths powered by AI — from the Constitution to current legislation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206240" y="1371600"/>
            <a:ext cx="3621024" cy="2395728"/>
          </a:xfrm>
          <a:prstGeom prst="roundRect">
            <a:avLst>
              <a:gd name="adj" fmla="val 53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CBD5E1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206240" y="1371600"/>
            <a:ext cx="3621024" cy="73152"/>
          </a:xfrm>
          <a:prstGeom prst="roundRect">
            <a:avLst>
              <a:gd name="adj" fmla="val 175000"/>
            </a:avLst>
          </a:prstGeom>
          <a:solidFill>
            <a:srgbClr val="15803D"/>
          </a:solidFill>
          <a:ln/>
        </p:spPr>
      </p:sp>
      <p:sp>
        <p:nvSpPr>
          <p:cNvPr id="15" name="Shape 13"/>
          <p:cNvSpPr/>
          <p:nvPr/>
        </p:nvSpPr>
        <p:spPr>
          <a:xfrm>
            <a:off x="4206240" y="1408176"/>
            <a:ext cx="3621024" cy="36576"/>
          </a:xfrm>
          <a:prstGeom prst="rect">
            <a:avLst/>
          </a:prstGeom>
          <a:solidFill>
            <a:srgbClr val="15803D"/>
          </a:solidFill>
          <a:ln/>
        </p:spPr>
      </p:sp>
      <p:sp>
        <p:nvSpPr>
          <p:cNvPr id="16" name="Shape 14"/>
          <p:cNvSpPr/>
          <p:nvPr/>
        </p:nvSpPr>
        <p:spPr>
          <a:xfrm>
            <a:off x="4389120" y="1536192"/>
            <a:ext cx="530352" cy="530352"/>
          </a:xfrm>
          <a:prstGeom prst="ellipse">
            <a:avLst/>
          </a:prstGeom>
          <a:solidFill>
            <a:srgbClr val="F0FDF4"/>
          </a:solidFill>
          <a:ln/>
        </p:spPr>
      </p:sp>
      <p:sp>
        <p:nvSpPr>
          <p:cNvPr id="17" name="Text 15"/>
          <p:cNvSpPr/>
          <p:nvPr/>
        </p:nvSpPr>
        <p:spPr>
          <a:xfrm>
            <a:off x="4370832" y="151790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📰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029200" y="15544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Civics Feed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370832" y="2176272"/>
            <a:ext cx="3310128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news contextualized through a civic lens, keeping users informed and engaged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065008" y="1371600"/>
            <a:ext cx="3621024" cy="2395728"/>
          </a:xfrm>
          <a:prstGeom prst="roundRect">
            <a:avLst>
              <a:gd name="adj" fmla="val 53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CBD5E1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065008" y="1371600"/>
            <a:ext cx="3621024" cy="73152"/>
          </a:xfrm>
          <a:prstGeom prst="roundRect">
            <a:avLst>
              <a:gd name="adj" fmla="val 175000"/>
            </a:avLst>
          </a:prstGeom>
          <a:solidFill>
            <a:srgbClr val="2563EB"/>
          </a:solidFill>
          <a:ln/>
        </p:spPr>
      </p:sp>
      <p:sp>
        <p:nvSpPr>
          <p:cNvPr id="22" name="Shape 20"/>
          <p:cNvSpPr/>
          <p:nvPr/>
        </p:nvSpPr>
        <p:spPr>
          <a:xfrm>
            <a:off x="8065008" y="1408176"/>
            <a:ext cx="3621024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3" name="Shape 21"/>
          <p:cNvSpPr/>
          <p:nvPr/>
        </p:nvSpPr>
        <p:spPr>
          <a:xfrm>
            <a:off x="8247888" y="1536192"/>
            <a:ext cx="530352" cy="530352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0" y="151790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🏛️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8887968" y="15544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Legislative Tracker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229600" y="2176272"/>
            <a:ext cx="3310128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real bills in Congress and your state legislature; understand how laws are made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47472" y="3950208"/>
            <a:ext cx="3621024" cy="2395728"/>
          </a:xfrm>
          <a:prstGeom prst="roundRect">
            <a:avLst>
              <a:gd name="adj" fmla="val 53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CBD5E1">
                <a:alpha val="2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47472" y="3950208"/>
            <a:ext cx="3621024" cy="73152"/>
          </a:xfrm>
          <a:prstGeom prst="roundRect">
            <a:avLst>
              <a:gd name="adj" fmla="val 175000"/>
            </a:avLst>
          </a:prstGeom>
          <a:solidFill>
            <a:srgbClr val="15803D"/>
          </a:solidFill>
          <a:ln/>
        </p:spPr>
      </p:sp>
      <p:sp>
        <p:nvSpPr>
          <p:cNvPr id="29" name="Shape 27"/>
          <p:cNvSpPr/>
          <p:nvPr/>
        </p:nvSpPr>
        <p:spPr>
          <a:xfrm>
            <a:off x="347472" y="3986784"/>
            <a:ext cx="3621024" cy="36576"/>
          </a:xfrm>
          <a:prstGeom prst="rect">
            <a:avLst/>
          </a:prstGeom>
          <a:solidFill>
            <a:srgbClr val="15803D"/>
          </a:solidFill>
          <a:ln/>
        </p:spPr>
      </p:sp>
      <p:sp>
        <p:nvSpPr>
          <p:cNvPr id="30" name="Shape 28"/>
          <p:cNvSpPr/>
          <p:nvPr/>
        </p:nvSpPr>
        <p:spPr>
          <a:xfrm>
            <a:off x="530352" y="4114800"/>
            <a:ext cx="530352" cy="530352"/>
          </a:xfrm>
          <a:prstGeom prst="ellipse">
            <a:avLst/>
          </a:prstGeom>
          <a:solidFill>
            <a:srgbClr val="F0FDF4"/>
          </a:solidFill>
          <a:ln/>
        </p:spPr>
      </p:sp>
      <p:sp>
        <p:nvSpPr>
          <p:cNvPr id="31" name="Text 29"/>
          <p:cNvSpPr/>
          <p:nvPr/>
        </p:nvSpPr>
        <p:spPr>
          <a:xfrm>
            <a:off x="512064" y="40965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💬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1170432" y="4133088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Debates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2064" y="4754880"/>
            <a:ext cx="3310128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Structured, moderated civic discussion forums that build democratic discourse skills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206240" y="3950208"/>
            <a:ext cx="3621024" cy="2395728"/>
          </a:xfrm>
          <a:prstGeom prst="roundRect">
            <a:avLst>
              <a:gd name="adj" fmla="val 53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CBD5E1">
                <a:alpha val="2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206240" y="3950208"/>
            <a:ext cx="3621024" cy="73152"/>
          </a:xfrm>
          <a:prstGeom prst="roundRect">
            <a:avLst>
              <a:gd name="adj" fmla="val 175000"/>
            </a:avLst>
          </a:prstGeom>
          <a:solidFill>
            <a:srgbClr val="2563EB"/>
          </a:solidFill>
          <a:ln/>
        </p:spPr>
      </p:sp>
      <p:sp>
        <p:nvSpPr>
          <p:cNvPr id="36" name="Shape 34"/>
          <p:cNvSpPr/>
          <p:nvPr/>
        </p:nvSpPr>
        <p:spPr>
          <a:xfrm>
            <a:off x="4206240" y="3986784"/>
            <a:ext cx="3621024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7" name="Shape 35"/>
          <p:cNvSpPr/>
          <p:nvPr/>
        </p:nvSpPr>
        <p:spPr>
          <a:xfrm>
            <a:off x="4389120" y="4114800"/>
            <a:ext cx="530352" cy="530352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38" name="Text 36"/>
          <p:cNvSpPr/>
          <p:nvPr/>
        </p:nvSpPr>
        <p:spPr>
          <a:xfrm>
            <a:off x="4370832" y="40965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🏆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5029200" y="4133088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Gamified Progress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4370832" y="4754880"/>
            <a:ext cx="3310128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Civic challenges, quizzes, badges, and leaderboards that make learning addictive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8065008" y="3950208"/>
            <a:ext cx="3621024" cy="2395728"/>
          </a:xfrm>
          <a:prstGeom prst="roundRect">
            <a:avLst>
              <a:gd name="adj" fmla="val 53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CBD5E1">
                <a:alpha val="2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8065008" y="3950208"/>
            <a:ext cx="3621024" cy="73152"/>
          </a:xfrm>
          <a:prstGeom prst="roundRect">
            <a:avLst>
              <a:gd name="adj" fmla="val 175000"/>
            </a:avLst>
          </a:prstGeom>
          <a:solidFill>
            <a:srgbClr val="15803D"/>
          </a:solidFill>
          <a:ln/>
        </p:spPr>
      </p:sp>
      <p:sp>
        <p:nvSpPr>
          <p:cNvPr id="43" name="Shape 41"/>
          <p:cNvSpPr/>
          <p:nvPr/>
        </p:nvSpPr>
        <p:spPr>
          <a:xfrm>
            <a:off x="8065008" y="3986784"/>
            <a:ext cx="3621024" cy="36576"/>
          </a:xfrm>
          <a:prstGeom prst="rect">
            <a:avLst/>
          </a:prstGeom>
          <a:solidFill>
            <a:srgbClr val="15803D"/>
          </a:solidFill>
          <a:ln/>
        </p:spPr>
      </p:sp>
      <p:sp>
        <p:nvSpPr>
          <p:cNvPr id="44" name="Shape 42"/>
          <p:cNvSpPr/>
          <p:nvPr/>
        </p:nvSpPr>
        <p:spPr>
          <a:xfrm>
            <a:off x="8247888" y="4114800"/>
            <a:ext cx="530352" cy="530352"/>
          </a:xfrm>
          <a:prstGeom prst="ellipse">
            <a:avLst/>
          </a:prstGeom>
          <a:solidFill>
            <a:srgbClr val="F0FDF4"/>
          </a:solidFill>
          <a:ln/>
        </p:spPr>
      </p:sp>
      <p:sp>
        <p:nvSpPr>
          <p:cNvPr id="45" name="Text 43"/>
          <p:cNvSpPr/>
          <p:nvPr/>
        </p:nvSpPr>
        <p:spPr>
          <a:xfrm>
            <a:off x="8229600" y="40965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46" name="Text 44"/>
          <p:cNvSpPr/>
          <p:nvPr/>
        </p:nvSpPr>
        <p:spPr>
          <a:xfrm>
            <a:off x="8887968" y="4133088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Analytics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8229600" y="4754880"/>
            <a:ext cx="3310128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for educators and administrators to track civic literacy growth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0" y="6638544"/>
            <a:ext cx="12188952" cy="21945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9" name="Shape 47"/>
          <p:cNvSpPr/>
          <p:nvPr/>
        </p:nvSpPr>
        <p:spPr>
          <a:xfrm>
            <a:off x="0" y="6638544"/>
            <a:ext cx="201168" cy="21945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0" name="Text 48"/>
          <p:cNvSpPr/>
          <p:nvPr/>
        </p:nvSpPr>
        <p:spPr>
          <a:xfrm>
            <a:off x="365760" y="6638544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civix250.ai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1188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20624"/>
            <a:ext cx="109728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America250 Moment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298448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name 'Civix250' is purpose-built for this cultural moment. No other platform is positioned to be the civic engagement tool of the Semiquincentennial.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914400" y="3401568"/>
            <a:ext cx="10058400" cy="54864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8" name="Shape 6"/>
          <p:cNvSpPr/>
          <p:nvPr/>
        </p:nvSpPr>
        <p:spPr>
          <a:xfrm>
            <a:off x="1709928" y="3246120"/>
            <a:ext cx="329184" cy="329184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9" name="Shape 7"/>
          <p:cNvSpPr/>
          <p:nvPr/>
        </p:nvSpPr>
        <p:spPr>
          <a:xfrm>
            <a:off x="1005840" y="2011680"/>
            <a:ext cx="246888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01168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Q2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60120" y="3611880"/>
            <a:ext cx="2523744" cy="2487168"/>
          </a:xfrm>
          <a:prstGeom prst="roundRect">
            <a:avLst>
              <a:gd name="adj" fmla="val 4412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0120" y="3611880"/>
            <a:ext cx="2523744" cy="91440"/>
          </a:xfrm>
          <a:prstGeom prst="roundRect">
            <a:avLst>
              <a:gd name="adj" fmla="val 120000"/>
            </a:avLst>
          </a:prstGeom>
          <a:solidFill>
            <a:srgbClr val="16A34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0120" y="3657600"/>
            <a:ext cx="2523744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1078992" y="3767328"/>
            <a:ext cx="226771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Midterm Primaries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78992" y="4407408"/>
            <a:ext cx="2267712" cy="1572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civic interest nationally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25112" y="3246120"/>
            <a:ext cx="329184" cy="32918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7" name="Shape 15"/>
          <p:cNvSpPr/>
          <p:nvPr/>
        </p:nvSpPr>
        <p:spPr>
          <a:xfrm>
            <a:off x="3621024" y="2011680"/>
            <a:ext cx="246888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21024" y="201168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4, 2026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575304" y="3611880"/>
            <a:ext cx="2523744" cy="2487168"/>
          </a:xfrm>
          <a:prstGeom prst="roundRect">
            <a:avLst>
              <a:gd name="adj" fmla="val 4412"/>
            </a:avLst>
          </a:prstGeom>
          <a:solidFill>
            <a:srgbClr val="FEF9C3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75304" y="3611880"/>
            <a:ext cx="2523744" cy="91440"/>
          </a:xfrm>
          <a:prstGeom prst="roundRect">
            <a:avLst>
              <a:gd name="adj" fmla="val 120000"/>
            </a:avLst>
          </a:prstGeom>
          <a:solidFill>
            <a:srgbClr val="D97706"/>
          </a:solidFill>
          <a:ln/>
        </p:spPr>
      </p:sp>
      <p:sp>
        <p:nvSpPr>
          <p:cNvPr id="21" name="Shape 19"/>
          <p:cNvSpPr/>
          <p:nvPr/>
        </p:nvSpPr>
        <p:spPr>
          <a:xfrm>
            <a:off x="3575304" y="3657600"/>
            <a:ext cx="2523744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2" name="Text 20"/>
          <p:cNvSpPr/>
          <p:nvPr/>
        </p:nvSpPr>
        <p:spPr>
          <a:xfrm>
            <a:off x="3694176" y="3767328"/>
            <a:ext cx="226771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America's 250th Birthday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694176" y="4407408"/>
            <a:ext cx="2267712" cy="1572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civic celebration — America250 partner opportunity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940296" y="3246120"/>
            <a:ext cx="329184" cy="329184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5" name="Shape 23"/>
          <p:cNvSpPr/>
          <p:nvPr/>
        </p:nvSpPr>
        <p:spPr>
          <a:xfrm>
            <a:off x="6236208" y="2011680"/>
            <a:ext cx="246888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36208" y="201168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2026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190488" y="3611880"/>
            <a:ext cx="2523744" cy="2487168"/>
          </a:xfrm>
          <a:prstGeom prst="roundRect">
            <a:avLst>
              <a:gd name="adj" fmla="val 4412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90488" y="3611880"/>
            <a:ext cx="2523744" cy="91440"/>
          </a:xfrm>
          <a:prstGeom prst="roundRect">
            <a:avLst>
              <a:gd name="adj" fmla="val 120000"/>
            </a:avLst>
          </a:prstGeom>
          <a:solidFill>
            <a:srgbClr val="DC2626"/>
          </a:solidFill>
          <a:ln/>
        </p:spPr>
      </p:sp>
      <p:sp>
        <p:nvSpPr>
          <p:cNvPr id="29" name="Shape 27"/>
          <p:cNvSpPr/>
          <p:nvPr/>
        </p:nvSpPr>
        <p:spPr>
          <a:xfrm>
            <a:off x="6190488" y="3657600"/>
            <a:ext cx="2523744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0" name="Text 28"/>
          <p:cNvSpPr/>
          <p:nvPr/>
        </p:nvSpPr>
        <p:spPr>
          <a:xfrm>
            <a:off x="6309360" y="3767328"/>
            <a:ext cx="226771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Midterm Elections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309360" y="4407408"/>
            <a:ext cx="2267712" cy="1572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civic engagement moment every 2 years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555480" y="3246120"/>
            <a:ext cx="329184" cy="329184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33" name="Shape 31"/>
          <p:cNvSpPr/>
          <p:nvPr/>
        </p:nvSpPr>
        <p:spPr>
          <a:xfrm>
            <a:off x="8851392" y="2011680"/>
            <a:ext cx="246888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851392" y="201168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2027+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805672" y="3611880"/>
            <a:ext cx="2523744" cy="2487168"/>
          </a:xfrm>
          <a:prstGeom prst="roundRect">
            <a:avLst>
              <a:gd name="adj" fmla="val 4412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805672" y="3611880"/>
            <a:ext cx="2523744" cy="91440"/>
          </a:xfrm>
          <a:prstGeom prst="roundRect">
            <a:avLst>
              <a:gd name="adj" fmla="val 120000"/>
            </a:avLst>
          </a:prstGeom>
          <a:solidFill>
            <a:srgbClr val="16A34A"/>
          </a:solidFill>
          <a:ln/>
        </p:spPr>
      </p:sp>
      <p:sp>
        <p:nvSpPr>
          <p:cNvPr id="37" name="Shape 35"/>
          <p:cNvSpPr/>
          <p:nvPr/>
        </p:nvSpPr>
        <p:spPr>
          <a:xfrm>
            <a:off x="8805672" y="3657600"/>
            <a:ext cx="2523744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8" name="Text 36"/>
          <p:cNvSpPr/>
          <p:nvPr/>
        </p:nvSpPr>
        <p:spPr>
          <a:xfrm>
            <a:off x="8924544" y="3767328"/>
            <a:ext cx="226771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Growth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8924544" y="4407408"/>
            <a:ext cx="2267712" cy="1572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becomes the civic habit for a generation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0" y="6638544"/>
            <a:ext cx="12188952" cy="21945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1" name="Shape 39"/>
          <p:cNvSpPr/>
          <p:nvPr/>
        </p:nvSpPr>
        <p:spPr>
          <a:xfrm>
            <a:off x="0" y="6638544"/>
            <a:ext cx="201168" cy="21945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2" name="Text 40"/>
          <p:cNvSpPr/>
          <p:nvPr/>
        </p:nvSpPr>
        <p:spPr>
          <a:xfrm>
            <a:off x="365760" y="6638544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civix250.ai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AUDIENCE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38912"/>
            <a:ext cx="10972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Core User Groups, One Ecosystem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47472" y="1353312"/>
            <a:ext cx="3694176" cy="5257800"/>
          </a:xfrm>
          <a:prstGeom prst="roundRect">
            <a:avLst>
              <a:gd name="adj" fmla="val 44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CBD5E1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47472" y="1353312"/>
            <a:ext cx="3694176" cy="1280160"/>
          </a:xfrm>
          <a:prstGeom prst="roundRect">
            <a:avLst>
              <a:gd name="adj" fmla="val 12857"/>
            </a:avLst>
          </a:prstGeom>
          <a:solidFill>
            <a:srgbClr val="2563EB"/>
          </a:solidFill>
          <a:ln/>
        </p:spPr>
      </p:sp>
      <p:sp>
        <p:nvSpPr>
          <p:cNvPr id="8" name="Shape 6"/>
          <p:cNvSpPr/>
          <p:nvPr/>
        </p:nvSpPr>
        <p:spPr>
          <a:xfrm>
            <a:off x="347472" y="2304288"/>
            <a:ext cx="3694176" cy="32918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347472" y="1426464"/>
            <a:ext cx="369417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🎓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38912" y="1993392"/>
            <a:ext cx="35112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&amp;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Young Adults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38912" y="2697480"/>
            <a:ext cx="35112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Ages 14–30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38912" y="3017520"/>
            <a:ext cx="35112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60M+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438912" y="3639312"/>
            <a:ext cx="35112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US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21792" y="3950208"/>
            <a:ext cx="3145536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5" name="Shape 13"/>
          <p:cNvSpPr/>
          <p:nvPr/>
        </p:nvSpPr>
        <p:spPr>
          <a:xfrm>
            <a:off x="603504" y="4133088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EFF6FF"/>
          </a:solidFill>
          <a:ln/>
        </p:spPr>
      </p:sp>
      <p:sp>
        <p:nvSpPr>
          <p:cNvPr id="16" name="Text 14"/>
          <p:cNvSpPr/>
          <p:nvPr/>
        </p:nvSpPr>
        <p:spPr>
          <a:xfrm>
            <a:off x="603504" y="4096512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7824" y="4059936"/>
            <a:ext cx="3017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Gamified civic quizzes and challenges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03504" y="4581144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EFF6FF"/>
          </a:solidFill>
          <a:ln/>
        </p:spPr>
      </p:sp>
      <p:sp>
        <p:nvSpPr>
          <p:cNvPr id="19" name="Text 17"/>
          <p:cNvSpPr/>
          <p:nvPr/>
        </p:nvSpPr>
        <p:spPr>
          <a:xfrm>
            <a:off x="603504" y="4544568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77824" y="4507992"/>
            <a:ext cx="3017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tutor explains complex topics simply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03504" y="5029200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EFF6FF"/>
          </a:solidFill>
          <a:ln/>
        </p:spPr>
      </p:sp>
      <p:sp>
        <p:nvSpPr>
          <p:cNvPr id="22" name="Text 20"/>
          <p:cNvSpPr/>
          <p:nvPr/>
        </p:nvSpPr>
        <p:spPr>
          <a:xfrm>
            <a:off x="603504" y="4992624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77824" y="4956048"/>
            <a:ext cx="3017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sharing of civic achievements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03504" y="5477256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EFF6FF"/>
          </a:solidFill>
          <a:ln/>
        </p:spPr>
      </p:sp>
      <p:sp>
        <p:nvSpPr>
          <p:cNvPr id="25" name="Text 23"/>
          <p:cNvSpPr/>
          <p:nvPr/>
        </p:nvSpPr>
        <p:spPr>
          <a:xfrm>
            <a:off x="603504" y="5440680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77824" y="5404104"/>
            <a:ext cx="3017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 tracker keeps them policy-aware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279392" y="1353312"/>
            <a:ext cx="3694176" cy="5257800"/>
          </a:xfrm>
          <a:prstGeom prst="roundRect">
            <a:avLst>
              <a:gd name="adj" fmla="val 44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CBD5E1">
                <a:alpha val="2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279392" y="1353312"/>
            <a:ext cx="3694176" cy="1280160"/>
          </a:xfrm>
          <a:prstGeom prst="roundRect">
            <a:avLst>
              <a:gd name="adj" fmla="val 12857"/>
            </a:avLst>
          </a:prstGeom>
          <a:solidFill>
            <a:srgbClr val="15803D"/>
          </a:solidFill>
          <a:ln/>
        </p:spPr>
      </p:sp>
      <p:sp>
        <p:nvSpPr>
          <p:cNvPr id="29" name="Shape 27"/>
          <p:cNvSpPr/>
          <p:nvPr/>
        </p:nvSpPr>
        <p:spPr>
          <a:xfrm>
            <a:off x="4279392" y="2304288"/>
            <a:ext cx="3694176" cy="329184"/>
          </a:xfrm>
          <a:prstGeom prst="rect">
            <a:avLst/>
          </a:prstGeom>
          <a:solidFill>
            <a:srgbClr val="15803D"/>
          </a:solidFill>
          <a:ln/>
        </p:spPr>
      </p:sp>
      <p:sp>
        <p:nvSpPr>
          <p:cNvPr id="30" name="Text 28"/>
          <p:cNvSpPr/>
          <p:nvPr/>
        </p:nvSpPr>
        <p:spPr>
          <a:xfrm>
            <a:off x="4279392" y="1426464"/>
            <a:ext cx="369417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📚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4370832" y="1993392"/>
            <a:ext cx="35112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Educators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Schools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4370832" y="2697480"/>
            <a:ext cx="35112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K-12 &amp; Higher Ed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370832" y="3017520"/>
            <a:ext cx="35112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3.7M</a:t>
            </a:r>
            <a:endParaRPr lang="en-US" sz="4000" dirty="0"/>
          </a:p>
        </p:txBody>
      </p:sp>
      <p:sp>
        <p:nvSpPr>
          <p:cNvPr id="34" name="Text 32"/>
          <p:cNvSpPr/>
          <p:nvPr/>
        </p:nvSpPr>
        <p:spPr>
          <a:xfrm>
            <a:off x="4370832" y="3639312"/>
            <a:ext cx="35112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553712" y="3950208"/>
            <a:ext cx="3145536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6" name="Shape 34"/>
          <p:cNvSpPr/>
          <p:nvPr/>
        </p:nvSpPr>
        <p:spPr>
          <a:xfrm>
            <a:off x="4535424" y="4133088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0FDF4"/>
          </a:solidFill>
          <a:ln/>
        </p:spPr>
      </p:sp>
      <p:sp>
        <p:nvSpPr>
          <p:cNvPr id="37" name="Text 35"/>
          <p:cNvSpPr/>
          <p:nvPr/>
        </p:nvSpPr>
        <p:spPr>
          <a:xfrm>
            <a:off x="4535424" y="4096512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809744" y="4059936"/>
            <a:ext cx="3017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Classroom-ready civic content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535424" y="4581144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0FDF4"/>
          </a:solidFill>
          <a:ln/>
        </p:spPr>
      </p:sp>
      <p:sp>
        <p:nvSpPr>
          <p:cNvPr id="40" name="Text 38"/>
          <p:cNvSpPr/>
          <p:nvPr/>
        </p:nvSpPr>
        <p:spPr>
          <a:xfrm>
            <a:off x="4535424" y="4544568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809744" y="4507992"/>
            <a:ext cx="3017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progress dashboards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4535424" y="5029200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0FDF4"/>
          </a:solidFill>
          <a:ln/>
        </p:spPr>
      </p:sp>
      <p:sp>
        <p:nvSpPr>
          <p:cNvPr id="43" name="Text 41"/>
          <p:cNvSpPr/>
          <p:nvPr/>
        </p:nvSpPr>
        <p:spPr>
          <a:xfrm>
            <a:off x="4535424" y="4992624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809744" y="4956048"/>
            <a:ext cx="3017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Aligns to AP Gov, Civics standards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535424" y="5477256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0FDF4"/>
          </a:solidFill>
          <a:ln/>
        </p:spPr>
      </p:sp>
      <p:sp>
        <p:nvSpPr>
          <p:cNvPr id="46" name="Text 44"/>
          <p:cNvSpPr/>
          <p:nvPr/>
        </p:nvSpPr>
        <p:spPr>
          <a:xfrm>
            <a:off x="4535424" y="5440680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809744" y="5404104"/>
            <a:ext cx="3017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 or replace textbooks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8211312" y="1353312"/>
            <a:ext cx="3694176" cy="5257800"/>
          </a:xfrm>
          <a:prstGeom prst="roundRect">
            <a:avLst>
              <a:gd name="adj" fmla="val 44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CBD5E1">
                <a:alpha val="20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8211312" y="1353312"/>
            <a:ext cx="3694176" cy="1280160"/>
          </a:xfrm>
          <a:prstGeom prst="roundRect">
            <a:avLst>
              <a:gd name="adj" fmla="val 12857"/>
            </a:avLst>
          </a:prstGeom>
          <a:solidFill>
            <a:srgbClr val="2563EB"/>
          </a:solidFill>
          <a:ln/>
        </p:spPr>
      </p:sp>
      <p:sp>
        <p:nvSpPr>
          <p:cNvPr id="50" name="Shape 48"/>
          <p:cNvSpPr/>
          <p:nvPr/>
        </p:nvSpPr>
        <p:spPr>
          <a:xfrm>
            <a:off x="8211312" y="2304288"/>
            <a:ext cx="3694176" cy="32918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1" name="Text 49"/>
          <p:cNvSpPr/>
          <p:nvPr/>
        </p:nvSpPr>
        <p:spPr>
          <a:xfrm>
            <a:off x="8211312" y="1426464"/>
            <a:ext cx="369417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🏛️</a:t>
            </a:r>
            <a:endParaRPr lang="en-US" sz="2800" dirty="0"/>
          </a:p>
        </p:txBody>
      </p:sp>
      <p:sp>
        <p:nvSpPr>
          <p:cNvPr id="52" name="Text 50"/>
          <p:cNvSpPr/>
          <p:nvPr/>
        </p:nvSpPr>
        <p:spPr>
          <a:xfrm>
            <a:off x="8302752" y="1993392"/>
            <a:ext cx="35112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Civic Orgs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Libraries</a:t>
            </a:r>
            <a:endParaRPr lang="en-US" sz="1500" dirty="0"/>
          </a:p>
        </p:txBody>
      </p:sp>
      <p:sp>
        <p:nvSpPr>
          <p:cNvPr id="53" name="Text 51"/>
          <p:cNvSpPr/>
          <p:nvPr/>
        </p:nvSpPr>
        <p:spPr>
          <a:xfrm>
            <a:off x="8302752" y="2697480"/>
            <a:ext cx="35112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Public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8302752" y="3017520"/>
            <a:ext cx="35112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17K+</a:t>
            </a:r>
            <a:endParaRPr lang="en-US" sz="4000" dirty="0"/>
          </a:p>
        </p:txBody>
      </p:sp>
      <p:sp>
        <p:nvSpPr>
          <p:cNvPr id="55" name="Text 53"/>
          <p:cNvSpPr/>
          <p:nvPr/>
        </p:nvSpPr>
        <p:spPr>
          <a:xfrm>
            <a:off x="8302752" y="3639312"/>
            <a:ext cx="35112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libraries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8485632" y="3950208"/>
            <a:ext cx="3145536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7" name="Shape 55"/>
          <p:cNvSpPr/>
          <p:nvPr/>
        </p:nvSpPr>
        <p:spPr>
          <a:xfrm>
            <a:off x="8467344" y="4133088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EFF6FF"/>
          </a:solidFill>
          <a:ln/>
        </p:spPr>
      </p:sp>
      <p:sp>
        <p:nvSpPr>
          <p:cNvPr id="58" name="Text 56"/>
          <p:cNvSpPr/>
          <p:nvPr/>
        </p:nvSpPr>
        <p:spPr>
          <a:xfrm>
            <a:off x="8467344" y="4096512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8741664" y="4059936"/>
            <a:ext cx="3017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Voter education resources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8467344" y="4581144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EFF6FF"/>
          </a:solidFill>
          <a:ln/>
        </p:spPr>
      </p:sp>
      <p:sp>
        <p:nvSpPr>
          <p:cNvPr id="61" name="Text 59"/>
          <p:cNvSpPr/>
          <p:nvPr/>
        </p:nvSpPr>
        <p:spPr>
          <a:xfrm>
            <a:off x="8467344" y="4544568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8741664" y="4507992"/>
            <a:ext cx="3017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discussion forums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8467344" y="5029200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EFF6FF"/>
          </a:solidFill>
          <a:ln/>
        </p:spPr>
      </p:sp>
      <p:sp>
        <p:nvSpPr>
          <p:cNvPr id="64" name="Text 62"/>
          <p:cNvSpPr/>
          <p:nvPr/>
        </p:nvSpPr>
        <p:spPr>
          <a:xfrm>
            <a:off x="8467344" y="4992624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8741664" y="4956048"/>
            <a:ext cx="3017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Legislative tracking for advocates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8467344" y="5477256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EFF6FF"/>
          </a:solidFill>
          <a:ln/>
        </p:spPr>
      </p:sp>
      <p:sp>
        <p:nvSpPr>
          <p:cNvPr id="67" name="Text 65"/>
          <p:cNvSpPr/>
          <p:nvPr/>
        </p:nvSpPr>
        <p:spPr>
          <a:xfrm>
            <a:off x="8467344" y="5440680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8741664" y="5404104"/>
            <a:ext cx="3017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Nonpartisan, trustworthy framing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0" y="6638544"/>
            <a:ext cx="12188952" cy="21945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70" name="Shape 68"/>
          <p:cNvSpPr/>
          <p:nvPr/>
        </p:nvSpPr>
        <p:spPr>
          <a:xfrm>
            <a:off x="0" y="6638544"/>
            <a:ext cx="201168" cy="21945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1" name="Text 69"/>
          <p:cNvSpPr/>
          <p:nvPr/>
        </p:nvSpPr>
        <p:spPr>
          <a:xfrm>
            <a:off x="365760" y="6638544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civix250.ai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1188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PARTNERSHIP OPPORTUNITIES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20624"/>
            <a:ext cx="109728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Join the Movement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47472" y="1389888"/>
            <a:ext cx="3694176" cy="5047488"/>
          </a:xfrm>
          <a:prstGeom prst="roundRect">
            <a:avLst>
              <a:gd name="adj" fmla="val 396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76072" y="1243584"/>
            <a:ext cx="3236976" cy="347472"/>
          </a:xfrm>
          <a:prstGeom prst="roundRect">
            <a:avLst>
              <a:gd name="adj" fmla="val 2105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1243584"/>
            <a:ext cx="32369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FOUNDING PARTNER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472" y="1554480"/>
            <a:ext cx="369417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🏫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484632" y="2157984"/>
            <a:ext cx="34198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Departments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Education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84632" y="2907792"/>
            <a:ext cx="341985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embedded in state civic curriculum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" y="3401568"/>
            <a:ext cx="3145536" cy="1828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3" name="Shape 11"/>
          <p:cNvSpPr/>
          <p:nvPr/>
        </p:nvSpPr>
        <p:spPr>
          <a:xfrm>
            <a:off x="640080" y="3621024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850392" y="3547872"/>
            <a:ext cx="3017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Co-branded platform experience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4096512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6" name="Text 14"/>
          <p:cNvSpPr/>
          <p:nvPr/>
        </p:nvSpPr>
        <p:spPr>
          <a:xfrm>
            <a:off x="850392" y="4023360"/>
            <a:ext cx="3017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training and PD sessions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4572000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850392" y="4498848"/>
            <a:ext cx="3017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Featured in all launch PR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5047488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20" name="Text 18"/>
          <p:cNvSpPr/>
          <p:nvPr/>
        </p:nvSpPr>
        <p:spPr>
          <a:xfrm>
            <a:off x="850392" y="4974336"/>
            <a:ext cx="3017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 board seat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279392" y="1389888"/>
            <a:ext cx="3694176" cy="5047488"/>
          </a:xfrm>
          <a:prstGeom prst="roundRect">
            <a:avLst>
              <a:gd name="adj" fmla="val 3960"/>
            </a:avLst>
          </a:prstGeom>
          <a:solidFill>
            <a:srgbClr val="FEF9C3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07992" y="1243584"/>
            <a:ext cx="3236976" cy="347472"/>
          </a:xfrm>
          <a:prstGeom prst="roundRect">
            <a:avLst>
              <a:gd name="adj" fmla="val 21053"/>
            </a:avLst>
          </a:prstGeom>
          <a:solidFill>
            <a:srgbClr val="FEF9C3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07992" y="1243584"/>
            <a:ext cx="32369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CIVIC PARTNER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279392" y="1554480"/>
            <a:ext cx="369417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📖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4416552" y="2157984"/>
            <a:ext cx="34198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Nonprofit &amp;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Systems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416552" y="2907792"/>
            <a:ext cx="341985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access + co-branded civic programs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53712" y="3401568"/>
            <a:ext cx="3145536" cy="1828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72000" y="3621024"/>
            <a:ext cx="128016" cy="128016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29" name="Text 27"/>
          <p:cNvSpPr/>
          <p:nvPr/>
        </p:nvSpPr>
        <p:spPr>
          <a:xfrm>
            <a:off x="4782312" y="3547872"/>
            <a:ext cx="3017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White-label community modules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0" y="4096512"/>
            <a:ext cx="128016" cy="128016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31" name="Text 29"/>
          <p:cNvSpPr/>
          <p:nvPr/>
        </p:nvSpPr>
        <p:spPr>
          <a:xfrm>
            <a:off x="4782312" y="4023360"/>
            <a:ext cx="3017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content creation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0" y="4572000"/>
            <a:ext cx="128016" cy="128016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33" name="Text 31"/>
          <p:cNvSpPr/>
          <p:nvPr/>
        </p:nvSpPr>
        <p:spPr>
          <a:xfrm>
            <a:off x="4782312" y="4498848"/>
            <a:ext cx="3017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grant applications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72000" y="5047488"/>
            <a:ext cx="128016" cy="128016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35" name="Text 33"/>
          <p:cNvSpPr/>
          <p:nvPr/>
        </p:nvSpPr>
        <p:spPr>
          <a:xfrm>
            <a:off x="4782312" y="4974336"/>
            <a:ext cx="3017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co-sponsorship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211312" y="1389888"/>
            <a:ext cx="3694176" cy="5047488"/>
          </a:xfrm>
          <a:prstGeom prst="roundRect">
            <a:avLst>
              <a:gd name="adj" fmla="val 3960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439912" y="1243584"/>
            <a:ext cx="3236976" cy="347472"/>
          </a:xfrm>
          <a:prstGeom prst="roundRect">
            <a:avLst>
              <a:gd name="adj" fmla="val 2105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439912" y="1243584"/>
            <a:ext cx="32369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PARTNER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8211312" y="1554480"/>
            <a:ext cx="369417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📡</a:t>
            </a:r>
            <a:endParaRPr lang="en-US" sz="2600" dirty="0"/>
          </a:p>
        </p:txBody>
      </p:sp>
      <p:sp>
        <p:nvSpPr>
          <p:cNvPr id="40" name="Text 38"/>
          <p:cNvSpPr/>
          <p:nvPr/>
        </p:nvSpPr>
        <p:spPr>
          <a:xfrm>
            <a:off x="8348472" y="2157984"/>
            <a:ext cx="34198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 &amp; Publishing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Organizations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8348472" y="2907792"/>
            <a:ext cx="341985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integration + shared audiences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8485632" y="3401568"/>
            <a:ext cx="3145536" cy="1828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3" name="Shape 41"/>
          <p:cNvSpPr/>
          <p:nvPr/>
        </p:nvSpPr>
        <p:spPr>
          <a:xfrm>
            <a:off x="8503920" y="3621024"/>
            <a:ext cx="128016" cy="128016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4" name="Text 42"/>
          <p:cNvSpPr/>
          <p:nvPr/>
        </p:nvSpPr>
        <p:spPr>
          <a:xfrm>
            <a:off x="8714232" y="3547872"/>
            <a:ext cx="3017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Civics-in-the-news content feed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8503920" y="4096512"/>
            <a:ext cx="128016" cy="128016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6" name="Text 44"/>
          <p:cNvSpPr/>
          <p:nvPr/>
        </p:nvSpPr>
        <p:spPr>
          <a:xfrm>
            <a:off x="8714232" y="4023360"/>
            <a:ext cx="3017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Cross-promotion to readers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503920" y="4572000"/>
            <a:ext cx="128016" cy="128016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8" name="Text 46"/>
          <p:cNvSpPr/>
          <p:nvPr/>
        </p:nvSpPr>
        <p:spPr>
          <a:xfrm>
            <a:off x="8714232" y="4498848"/>
            <a:ext cx="3017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Sponsored civic explainer series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8503920" y="5047488"/>
            <a:ext cx="128016" cy="128016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50" name="Text 48"/>
          <p:cNvSpPr/>
          <p:nvPr/>
        </p:nvSpPr>
        <p:spPr>
          <a:xfrm>
            <a:off x="8714232" y="4974336"/>
            <a:ext cx="3017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sharing on civic trends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457200" y="6473952"/>
            <a:ext cx="11247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partnerships are nonpartisan, noncommercial in content, and mission-driven.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0" y="6638544"/>
            <a:ext cx="12188952" cy="21945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53" name="Shape 51"/>
          <p:cNvSpPr/>
          <p:nvPr/>
        </p:nvSpPr>
        <p:spPr>
          <a:xfrm>
            <a:off x="0" y="6638544"/>
            <a:ext cx="201168" cy="21945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4" name="Text 52"/>
          <p:cNvSpPr/>
          <p:nvPr/>
        </p:nvSpPr>
        <p:spPr>
          <a:xfrm>
            <a:off x="365760" y="6638544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civix250.ai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LANDSCAPE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38912"/>
            <a:ext cx="10972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Civix250 Wins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98448"/>
            <a:ext cx="3749040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7" name="Text 5"/>
          <p:cNvSpPr/>
          <p:nvPr/>
        </p:nvSpPr>
        <p:spPr>
          <a:xfrm>
            <a:off x="438912" y="1298448"/>
            <a:ext cx="3657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114800" y="1298448"/>
            <a:ext cx="1783080" cy="47548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4187952" y="1298448"/>
            <a:ext cx="1691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Civix250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897880" y="1298448"/>
            <a:ext cx="1783080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1" name="Text 9"/>
          <p:cNvSpPr/>
          <p:nvPr/>
        </p:nvSpPr>
        <p:spPr>
          <a:xfrm>
            <a:off x="5971032" y="1298448"/>
            <a:ext cx="1691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iCivics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680960" y="1298448"/>
            <a:ext cx="2011680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3" name="Text 11"/>
          <p:cNvSpPr/>
          <p:nvPr/>
        </p:nvSpPr>
        <p:spPr>
          <a:xfrm>
            <a:off x="7754112" y="1298448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Khan Academy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692640" y="1298448"/>
            <a:ext cx="1783080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5" name="Text 13"/>
          <p:cNvSpPr/>
          <p:nvPr/>
        </p:nvSpPr>
        <p:spPr>
          <a:xfrm>
            <a:off x="9765792" y="1298448"/>
            <a:ext cx="1691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Newsela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1773936"/>
            <a:ext cx="37490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0624" y="1773936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Tutoring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0" y="1773936"/>
            <a:ext cx="1783080" cy="457200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69664" y="1773936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897880" y="1773936"/>
            <a:ext cx="17830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52744" y="1773936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80960" y="1773936"/>
            <a:ext cx="20116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35824" y="1773936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9692640" y="1773936"/>
            <a:ext cx="17830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747504" y="1773936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365760" y="2231136"/>
            <a:ext cx="374904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0624" y="2231136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Legislative Tracker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114800" y="2231136"/>
            <a:ext cx="1783080" cy="457200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169664" y="2231136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897880" y="2231136"/>
            <a:ext cx="178308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52744" y="2231136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680960" y="2231136"/>
            <a:ext cx="201168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2231136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9692640" y="2231136"/>
            <a:ext cx="178308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747504" y="2231136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2688336"/>
            <a:ext cx="37490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20624" y="2688336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Events Integration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114800" y="2688336"/>
            <a:ext cx="1783080" cy="457200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169664" y="2688336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5897880" y="2688336"/>
            <a:ext cx="17830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52744" y="2688336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7680960" y="2688336"/>
            <a:ext cx="20116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735824" y="2688336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9692640" y="2688336"/>
            <a:ext cx="17830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747504" y="2688336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65760" y="3145536"/>
            <a:ext cx="374904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20624" y="3145536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Gamification &amp; Badges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114800" y="3145536"/>
            <a:ext cx="1783080" cy="457200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69664" y="3145536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5897880" y="3145536"/>
            <a:ext cx="178308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952744" y="3145536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7680960" y="3145536"/>
            <a:ext cx="201168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35824" y="3145536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9692640" y="3145536"/>
            <a:ext cx="178308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747504" y="3145536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56" name="Shape 54"/>
          <p:cNvSpPr/>
          <p:nvPr/>
        </p:nvSpPr>
        <p:spPr>
          <a:xfrm>
            <a:off x="365760" y="3602736"/>
            <a:ext cx="37490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20624" y="3602736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Discussion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4114800" y="3602736"/>
            <a:ext cx="1783080" cy="457200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169664" y="3602736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5897880" y="3602736"/>
            <a:ext cx="17830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952744" y="3602736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62" name="Shape 60"/>
          <p:cNvSpPr/>
          <p:nvPr/>
        </p:nvSpPr>
        <p:spPr>
          <a:xfrm>
            <a:off x="7680960" y="3602736"/>
            <a:ext cx="20116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735824" y="3602736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64" name="Shape 62"/>
          <p:cNvSpPr/>
          <p:nvPr/>
        </p:nvSpPr>
        <p:spPr>
          <a:xfrm>
            <a:off x="9692640" y="3602736"/>
            <a:ext cx="17830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9747504" y="3602736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66" name="Shape 64"/>
          <p:cNvSpPr/>
          <p:nvPr/>
        </p:nvSpPr>
        <p:spPr>
          <a:xfrm>
            <a:off x="365760" y="4059936"/>
            <a:ext cx="374904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20624" y="4059936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America250 Brand Alignment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4114800" y="4059936"/>
            <a:ext cx="1783080" cy="457200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169664" y="4059936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70" name="Shape 68"/>
          <p:cNvSpPr/>
          <p:nvPr/>
        </p:nvSpPr>
        <p:spPr>
          <a:xfrm>
            <a:off x="5897880" y="4059936"/>
            <a:ext cx="178308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952744" y="4059936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7680960" y="4059936"/>
            <a:ext cx="201168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735824" y="4059936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9692640" y="4059936"/>
            <a:ext cx="178308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747504" y="4059936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76" name="Shape 74"/>
          <p:cNvSpPr/>
          <p:nvPr/>
        </p:nvSpPr>
        <p:spPr>
          <a:xfrm>
            <a:off x="365760" y="4517136"/>
            <a:ext cx="37490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20624" y="4517136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Access Tier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4114800" y="4517136"/>
            <a:ext cx="1783080" cy="457200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169664" y="4517136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0" name="Shape 78"/>
          <p:cNvSpPr/>
          <p:nvPr/>
        </p:nvSpPr>
        <p:spPr>
          <a:xfrm>
            <a:off x="5897880" y="4517136"/>
            <a:ext cx="17830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5952744" y="4517136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2" name="Shape 80"/>
          <p:cNvSpPr/>
          <p:nvPr/>
        </p:nvSpPr>
        <p:spPr>
          <a:xfrm>
            <a:off x="7680960" y="4517136"/>
            <a:ext cx="20116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735824" y="4517136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4" name="Shape 82"/>
          <p:cNvSpPr/>
          <p:nvPr/>
        </p:nvSpPr>
        <p:spPr>
          <a:xfrm>
            <a:off x="9692640" y="4517136"/>
            <a:ext cx="17830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9747504" y="4517136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400" dirty="0"/>
          </a:p>
        </p:txBody>
      </p:sp>
      <p:sp>
        <p:nvSpPr>
          <p:cNvPr id="86" name="Shape 84"/>
          <p:cNvSpPr/>
          <p:nvPr/>
        </p:nvSpPr>
        <p:spPr>
          <a:xfrm>
            <a:off x="365760" y="6035040"/>
            <a:ext cx="11457432" cy="594360"/>
          </a:xfrm>
          <a:prstGeom prst="roundRect">
            <a:avLst>
              <a:gd name="adj" fmla="val 15385"/>
            </a:avLst>
          </a:prstGeom>
          <a:solidFill>
            <a:srgbClr val="1E3A8A"/>
          </a:solidFill>
          <a:ln/>
        </p:spPr>
      </p:sp>
      <p:sp>
        <p:nvSpPr>
          <p:cNvPr id="87" name="Shape 85"/>
          <p:cNvSpPr/>
          <p:nvPr/>
        </p:nvSpPr>
        <p:spPr>
          <a:xfrm>
            <a:off x="365760" y="6035040"/>
            <a:ext cx="182880" cy="5943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8" name="Text 86"/>
          <p:cNvSpPr/>
          <p:nvPr/>
        </p:nvSpPr>
        <p:spPr>
          <a:xfrm>
            <a:off x="713232" y="6035040"/>
            <a:ext cx="10881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Civix250 is the only platform combining AI education, real-time legislation, news, and community — purpose-built for the America 250 moment.</a:t>
            </a:r>
            <a:endParaRPr lang="en-US" sz="1150" dirty="0"/>
          </a:p>
        </p:txBody>
      </p:sp>
      <p:sp>
        <p:nvSpPr>
          <p:cNvPr id="89" name="Shape 87"/>
          <p:cNvSpPr/>
          <p:nvPr/>
        </p:nvSpPr>
        <p:spPr>
          <a:xfrm>
            <a:off x="0" y="6638544"/>
            <a:ext cx="12188952" cy="21945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90" name="Shape 88"/>
          <p:cNvSpPr/>
          <p:nvPr/>
        </p:nvSpPr>
        <p:spPr>
          <a:xfrm>
            <a:off x="0" y="6638544"/>
            <a:ext cx="201168" cy="21945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91" name="Text 89"/>
          <p:cNvSpPr/>
          <p:nvPr/>
        </p:nvSpPr>
        <p:spPr>
          <a:xfrm>
            <a:off x="365760" y="6638544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civix250.ai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212080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365760"/>
            <a:ext cx="4572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TRACTION &amp;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187452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2377440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15803D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2340864"/>
            <a:ext cx="237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94944" y="2304288"/>
            <a:ext cx="427939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AI-powered platform deployed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2980944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15803D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2944368"/>
            <a:ext cx="237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94944" y="2907792"/>
            <a:ext cx="427939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feature set: Learn, Track, Engage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760" y="3584448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15803D"/>
          </a:solidFill>
          <a:ln/>
        </p:spPr>
      </p:sp>
      <p:sp>
        <p:nvSpPr>
          <p:cNvPr id="13" name="Text 11"/>
          <p:cNvSpPr/>
          <p:nvPr/>
        </p:nvSpPr>
        <p:spPr>
          <a:xfrm>
            <a:off x="365760" y="3547872"/>
            <a:ext cx="237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94944" y="3511296"/>
            <a:ext cx="427939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legislative tracking active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4187952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15803D"/>
          </a:solidFill>
          <a:ln/>
        </p:spPr>
      </p:sp>
      <p:sp>
        <p:nvSpPr>
          <p:cNvPr id="16" name="Text 14"/>
          <p:cNvSpPr/>
          <p:nvPr/>
        </p:nvSpPr>
        <p:spPr>
          <a:xfrm>
            <a:off x="365760" y="4151376"/>
            <a:ext cx="237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94944" y="4114800"/>
            <a:ext cx="427939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Gamification &amp; progress system live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4791456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15803D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4754880"/>
            <a:ext cx="237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94944" y="4718304"/>
            <a:ext cx="427939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Mobile-responsive design complete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65760" y="5394960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15803D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5358384"/>
            <a:ext cx="237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94944" y="5321808"/>
            <a:ext cx="427939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 user testing underway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577840" y="274320"/>
            <a:ext cx="6217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ROADMAP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77840" y="640080"/>
            <a:ext cx="6217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to 50-State Impact</a:t>
            </a:r>
            <a:endParaRPr lang="en-US" sz="2500" dirty="0"/>
          </a:p>
        </p:txBody>
      </p:sp>
      <p:sp>
        <p:nvSpPr>
          <p:cNvPr id="26" name="Shape 24"/>
          <p:cNvSpPr/>
          <p:nvPr/>
        </p:nvSpPr>
        <p:spPr>
          <a:xfrm>
            <a:off x="5925312" y="1920240"/>
            <a:ext cx="54864" cy="65836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7" name="Shape 25"/>
          <p:cNvSpPr/>
          <p:nvPr/>
        </p:nvSpPr>
        <p:spPr>
          <a:xfrm>
            <a:off x="5797296" y="1664208"/>
            <a:ext cx="310896" cy="310896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8" name="Shape 26"/>
          <p:cNvSpPr/>
          <p:nvPr/>
        </p:nvSpPr>
        <p:spPr>
          <a:xfrm>
            <a:off x="6236208" y="1627632"/>
            <a:ext cx="1133856" cy="310896"/>
          </a:xfrm>
          <a:prstGeom prst="roundRect">
            <a:avLst>
              <a:gd name="adj" fmla="val 17647"/>
            </a:avLst>
          </a:prstGeom>
          <a:solidFill>
            <a:srgbClr val="2563EB"/>
          </a:solidFill>
          <a:ln/>
        </p:spPr>
      </p:sp>
      <p:sp>
        <p:nvSpPr>
          <p:cNvPr id="29" name="Text 27"/>
          <p:cNvSpPr/>
          <p:nvPr/>
        </p:nvSpPr>
        <p:spPr>
          <a:xfrm>
            <a:off x="6236208" y="1627632"/>
            <a:ext cx="113385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2026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461504" y="1627632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 District Pilots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461504" y="1956816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pilot programs with school districts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925312" y="2871216"/>
            <a:ext cx="54864" cy="65836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3" name="Shape 31"/>
          <p:cNvSpPr/>
          <p:nvPr/>
        </p:nvSpPr>
        <p:spPr>
          <a:xfrm>
            <a:off x="5797296" y="2615184"/>
            <a:ext cx="310896" cy="310896"/>
          </a:xfrm>
          <a:prstGeom prst="ellipse">
            <a:avLst/>
          </a:prstGeom>
          <a:solidFill>
            <a:srgbClr val="15803D"/>
          </a:solidFill>
          <a:ln/>
        </p:spPr>
      </p:sp>
      <p:sp>
        <p:nvSpPr>
          <p:cNvPr id="34" name="Shape 32"/>
          <p:cNvSpPr/>
          <p:nvPr/>
        </p:nvSpPr>
        <p:spPr>
          <a:xfrm>
            <a:off x="6236208" y="2578608"/>
            <a:ext cx="1133856" cy="310896"/>
          </a:xfrm>
          <a:prstGeom prst="roundRect">
            <a:avLst>
              <a:gd name="adj" fmla="val 17647"/>
            </a:avLst>
          </a:prstGeom>
          <a:solidFill>
            <a:srgbClr val="15803D"/>
          </a:solidFill>
          <a:ln/>
        </p:spPr>
      </p:sp>
      <p:sp>
        <p:nvSpPr>
          <p:cNvPr id="35" name="Text 33"/>
          <p:cNvSpPr/>
          <p:nvPr/>
        </p:nvSpPr>
        <p:spPr>
          <a:xfrm>
            <a:off x="6236208" y="2578608"/>
            <a:ext cx="113385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461504" y="2578608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America250 July 4th Launch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461504" y="2907792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 national campaign for 250th anniversary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925312" y="3822192"/>
            <a:ext cx="54864" cy="65836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9" name="Shape 37"/>
          <p:cNvSpPr/>
          <p:nvPr/>
        </p:nvSpPr>
        <p:spPr>
          <a:xfrm>
            <a:off x="5797296" y="3566160"/>
            <a:ext cx="310896" cy="310896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40" name="Shape 38"/>
          <p:cNvSpPr/>
          <p:nvPr/>
        </p:nvSpPr>
        <p:spPr>
          <a:xfrm>
            <a:off x="6236208" y="3529584"/>
            <a:ext cx="1133856" cy="310896"/>
          </a:xfrm>
          <a:prstGeom prst="roundRect">
            <a:avLst>
              <a:gd name="adj" fmla="val 17647"/>
            </a:avLst>
          </a:prstGeom>
          <a:solidFill>
            <a:srgbClr val="2563EB"/>
          </a:solidFill>
          <a:ln/>
        </p:spPr>
      </p:sp>
      <p:sp>
        <p:nvSpPr>
          <p:cNvPr id="41" name="Text 39"/>
          <p:cNvSpPr/>
          <p:nvPr/>
        </p:nvSpPr>
        <p:spPr>
          <a:xfrm>
            <a:off x="6236208" y="3529584"/>
            <a:ext cx="113385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461504" y="3529584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System Partnerships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7461504" y="3858768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 library networks across key states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925312" y="4773168"/>
            <a:ext cx="54864" cy="65836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5" name="Shape 43"/>
          <p:cNvSpPr/>
          <p:nvPr/>
        </p:nvSpPr>
        <p:spPr>
          <a:xfrm>
            <a:off x="5797296" y="4517136"/>
            <a:ext cx="310896" cy="310896"/>
          </a:xfrm>
          <a:prstGeom prst="ellipse">
            <a:avLst/>
          </a:prstGeom>
          <a:solidFill>
            <a:srgbClr val="15803D"/>
          </a:solidFill>
          <a:ln/>
        </p:spPr>
      </p:sp>
      <p:sp>
        <p:nvSpPr>
          <p:cNvPr id="46" name="Shape 44"/>
          <p:cNvSpPr/>
          <p:nvPr/>
        </p:nvSpPr>
        <p:spPr>
          <a:xfrm>
            <a:off x="6236208" y="4480560"/>
            <a:ext cx="1133856" cy="310896"/>
          </a:xfrm>
          <a:prstGeom prst="roundRect">
            <a:avLst>
              <a:gd name="adj" fmla="val 17647"/>
            </a:avLst>
          </a:prstGeom>
          <a:solidFill>
            <a:srgbClr val="15803D"/>
          </a:solidFill>
          <a:ln/>
        </p:spPr>
      </p:sp>
      <p:sp>
        <p:nvSpPr>
          <p:cNvPr id="47" name="Text 45"/>
          <p:cNvSpPr/>
          <p:nvPr/>
        </p:nvSpPr>
        <p:spPr>
          <a:xfrm>
            <a:off x="6236208" y="4480560"/>
            <a:ext cx="113385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2026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461504" y="4480560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Election Cycle Features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7461504" y="4809744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Voter education and election engagement tools go live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5797296" y="5468112"/>
            <a:ext cx="310896" cy="310896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51" name="Shape 49"/>
          <p:cNvSpPr/>
          <p:nvPr/>
        </p:nvSpPr>
        <p:spPr>
          <a:xfrm>
            <a:off x="6236208" y="5431536"/>
            <a:ext cx="1133856" cy="310896"/>
          </a:xfrm>
          <a:prstGeom prst="roundRect">
            <a:avLst>
              <a:gd name="adj" fmla="val 17647"/>
            </a:avLst>
          </a:prstGeom>
          <a:solidFill>
            <a:srgbClr val="2563EB"/>
          </a:solidFill>
          <a:ln/>
        </p:spPr>
      </p:sp>
      <p:sp>
        <p:nvSpPr>
          <p:cNvPr id="52" name="Text 50"/>
          <p:cNvSpPr/>
          <p:nvPr/>
        </p:nvSpPr>
        <p:spPr>
          <a:xfrm>
            <a:off x="6236208" y="5431536"/>
            <a:ext cx="113385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461504" y="5431536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50-State School District Rollout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7461504" y="576072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scale across all US school districts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0" y="6638544"/>
            <a:ext cx="12188952" cy="21945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56" name="Shape 54"/>
          <p:cNvSpPr/>
          <p:nvPr/>
        </p:nvSpPr>
        <p:spPr>
          <a:xfrm>
            <a:off x="0" y="6638544"/>
            <a:ext cx="201168" cy="21945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7" name="Text 55"/>
          <p:cNvSpPr/>
          <p:nvPr/>
        </p:nvSpPr>
        <p:spPr>
          <a:xfrm>
            <a:off x="365760" y="6638544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civix250.ai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PARTNERSHIP ASK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38912"/>
            <a:ext cx="10972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Looking For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47472" y="1389888"/>
            <a:ext cx="5650992" cy="2395728"/>
          </a:xfrm>
          <a:prstGeom prst="roundRect">
            <a:avLst>
              <a:gd name="adj" fmla="val 610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47472" y="1389888"/>
            <a:ext cx="914400" cy="2395728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/>
        </p:spPr>
      </p:sp>
      <p:sp>
        <p:nvSpPr>
          <p:cNvPr id="8" name="Shape 6"/>
          <p:cNvSpPr/>
          <p:nvPr/>
        </p:nvSpPr>
        <p:spPr>
          <a:xfrm>
            <a:off x="896112" y="1389888"/>
            <a:ext cx="365760" cy="239572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402336" y="1527048"/>
            <a:ext cx="8046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20624" y="2048256"/>
            <a:ext cx="76809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🏅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371600" y="1591056"/>
            <a:ext cx="4462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Endorsement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71600" y="2121408"/>
            <a:ext cx="4462272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formal partnership or 'recommended resource' designation to legitimize and accelerate adoption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36208" y="1389888"/>
            <a:ext cx="5650992" cy="2395728"/>
          </a:xfrm>
          <a:prstGeom prst="roundRect">
            <a:avLst>
              <a:gd name="adj" fmla="val 610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36208" y="1389888"/>
            <a:ext cx="914400" cy="2395728"/>
          </a:xfrm>
          <a:prstGeom prst="roundRect">
            <a:avLst>
              <a:gd name="adj" fmla="val 16000"/>
            </a:avLst>
          </a:prstGeom>
          <a:solidFill>
            <a:srgbClr val="15803D"/>
          </a:solidFill>
          <a:ln/>
        </p:spPr>
      </p:sp>
      <p:sp>
        <p:nvSpPr>
          <p:cNvPr id="15" name="Shape 13"/>
          <p:cNvSpPr/>
          <p:nvPr/>
        </p:nvSpPr>
        <p:spPr>
          <a:xfrm>
            <a:off x="6784848" y="1389888"/>
            <a:ext cx="365760" cy="2395728"/>
          </a:xfrm>
          <a:prstGeom prst="rect">
            <a:avLst/>
          </a:prstGeom>
          <a:solidFill>
            <a:srgbClr val="15803D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1527048"/>
            <a:ext cx="8046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309360" y="2048256"/>
            <a:ext cx="76809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📣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260336" y="1591056"/>
            <a:ext cx="4462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Access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260336" y="2121408"/>
            <a:ext cx="4462272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us reach your members, students, libraries, or subscribers through newsletters and events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47472" y="3950208"/>
            <a:ext cx="5650992" cy="2395728"/>
          </a:xfrm>
          <a:prstGeom prst="roundRect">
            <a:avLst>
              <a:gd name="adj" fmla="val 610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47472" y="3950208"/>
            <a:ext cx="914400" cy="2395728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/>
        </p:spPr>
      </p:sp>
      <p:sp>
        <p:nvSpPr>
          <p:cNvPr id="22" name="Shape 20"/>
          <p:cNvSpPr/>
          <p:nvPr/>
        </p:nvSpPr>
        <p:spPr>
          <a:xfrm>
            <a:off x="896112" y="3950208"/>
            <a:ext cx="365760" cy="239572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3" name="Text 21"/>
          <p:cNvSpPr/>
          <p:nvPr/>
        </p:nvSpPr>
        <p:spPr>
          <a:xfrm>
            <a:off x="402336" y="4087368"/>
            <a:ext cx="8046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420624" y="4608576"/>
            <a:ext cx="76809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✏️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1371600" y="4151376"/>
            <a:ext cx="4462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Collaboration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371600" y="4681728"/>
            <a:ext cx="4462272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Co-create civics content, lesson plans, or civic challenges that serve both our audiences and your mission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236208" y="3950208"/>
            <a:ext cx="5650992" cy="2395728"/>
          </a:xfrm>
          <a:prstGeom prst="roundRect">
            <a:avLst>
              <a:gd name="adj" fmla="val 610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236208" y="3950208"/>
            <a:ext cx="914400" cy="2395728"/>
          </a:xfrm>
          <a:prstGeom prst="roundRect">
            <a:avLst>
              <a:gd name="adj" fmla="val 16000"/>
            </a:avLst>
          </a:prstGeom>
          <a:solidFill>
            <a:srgbClr val="15803D"/>
          </a:solidFill>
          <a:ln/>
        </p:spPr>
      </p:sp>
      <p:sp>
        <p:nvSpPr>
          <p:cNvPr id="29" name="Shape 27"/>
          <p:cNvSpPr/>
          <p:nvPr/>
        </p:nvSpPr>
        <p:spPr>
          <a:xfrm>
            <a:off x="6784848" y="3950208"/>
            <a:ext cx="365760" cy="2395728"/>
          </a:xfrm>
          <a:prstGeom prst="rect">
            <a:avLst/>
          </a:prstGeom>
          <a:solidFill>
            <a:srgbClr val="15803D"/>
          </a:solidFill>
          <a:ln/>
        </p:spPr>
      </p:sp>
      <p:sp>
        <p:nvSpPr>
          <p:cNvPr id="30" name="Text 28"/>
          <p:cNvSpPr/>
          <p:nvPr/>
        </p:nvSpPr>
        <p:spPr>
          <a:xfrm>
            <a:off x="6291072" y="4087368"/>
            <a:ext cx="8046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6309360" y="4608576"/>
            <a:ext cx="76809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💰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7260336" y="4151376"/>
            <a:ext cx="4462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 &amp; Funding Connections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260336" y="4681728"/>
            <a:ext cx="4462272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civic education grant opportunities or joint funding applications for scale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0" y="6638544"/>
            <a:ext cx="12188952" cy="21945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6638544"/>
            <a:ext cx="201168" cy="21945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6" name="Text 34"/>
          <p:cNvSpPr/>
          <p:nvPr/>
        </p:nvSpPr>
        <p:spPr>
          <a:xfrm>
            <a:off x="365760" y="6638544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civix250.ai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914400"/>
            <a:ext cx="8229600" cy="8229600"/>
          </a:xfrm>
          <a:prstGeom prst="ellipse">
            <a:avLst/>
          </a:prstGeom>
          <a:solidFill>
            <a:srgbClr val="1E3A8A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1371600"/>
            <a:ext cx="7315200" cy="7315200"/>
          </a:xfrm>
          <a:prstGeom prst="ellipse">
            <a:avLst/>
          </a:prstGeom>
          <a:solidFill>
            <a:srgbClr val="0A251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201168"/>
            <a:ext cx="12188952" cy="91440"/>
          </a:xfrm>
          <a:prstGeom prst="rect">
            <a:avLst/>
          </a:prstGeom>
          <a:solidFill>
            <a:srgbClr val="15803D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9144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6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US IN BUILDING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371600"/>
            <a:ext cx="112471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More Civically</a:t>
            </a:r>
            <a:endParaRPr lang="en-US" sz="5800" dirty="0"/>
          </a:p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Engaged America</a:t>
            </a:r>
            <a:endParaRPr lang="en-US" sz="5800" dirty="0"/>
          </a:p>
        </p:txBody>
      </p:sp>
      <p:sp>
        <p:nvSpPr>
          <p:cNvPr id="8" name="Shape 6"/>
          <p:cNvSpPr/>
          <p:nvPr/>
        </p:nvSpPr>
        <p:spPr>
          <a:xfrm>
            <a:off x="4114800" y="3364992"/>
            <a:ext cx="3959352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1371600" y="3547872"/>
            <a:ext cx="9418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4, 2026 is not just a birthday — it's an opportunity to reset the civic literacy of a nation.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Civix250 is the platform built for this moment. We'd love to build it with you.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286000" y="4773168"/>
            <a:ext cx="301752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4773168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a Call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760720" y="4773168"/>
            <a:ext cx="3017520" cy="594360"/>
          </a:xfrm>
          <a:prstGeom prst="roundRect">
            <a:avLst>
              <a:gd name="adj" fmla="val 18462"/>
            </a:avLst>
          </a:prstGeom>
          <a:solidFill>
            <a:srgbClr val="2563EB"/>
          </a:solidFill>
          <a:ln/>
        </p:spPr>
      </p:sp>
      <p:sp>
        <p:nvSpPr>
          <p:cNvPr id="13" name="Text 11"/>
          <p:cNvSpPr/>
          <p:nvPr/>
        </p:nvSpPr>
        <p:spPr>
          <a:xfrm>
            <a:off x="5760720" y="4773168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the Platform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5650992"/>
            <a:ext cx="11247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civix250.ai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6035040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"Democracy is not a spectator sport."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0" y="6656832"/>
            <a:ext cx="12188952" cy="100584"/>
          </a:xfrm>
          <a:prstGeom prst="rect">
            <a:avLst/>
          </a:prstGeom>
          <a:solidFill>
            <a:srgbClr val="15803D"/>
          </a:solidFill>
          <a:ln/>
        </p:spPr>
      </p:sp>
      <p:sp>
        <p:nvSpPr>
          <p:cNvPr id="17" name="Shape 15"/>
          <p:cNvSpPr/>
          <p:nvPr/>
        </p:nvSpPr>
        <p:spPr>
          <a:xfrm>
            <a:off x="0" y="6757416"/>
            <a:ext cx="12188952" cy="100584"/>
          </a:xfrm>
          <a:prstGeom prst="rect">
            <a:avLst/>
          </a:prstGeom>
          <a:solidFill>
            <a:srgbClr val="2563EB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2026-06-04T18:35:07Z</dcterms:created>
  <dcterms:modified xsi:type="dcterms:W3CDTF">2026-06-04T18:35:07Z</dcterms:modified>
</cp:coreProperties>
</file>