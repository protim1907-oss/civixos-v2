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502920" y="233172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4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502920" y="3310128"/>
            <a:ext cx="32918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3456432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Civic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Platform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617720"/>
            <a:ext cx="2743200" cy="402336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61772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PROPOSAL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  · 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2194560"/>
            <a:ext cx="6492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civic education, legislative tracking, and community engagement —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America's 250th anniversary.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0" y="3657600"/>
            <a:ext cx="1920240" cy="128016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7490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303520" y="43159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98080" y="3657600"/>
            <a:ext cx="1920240" cy="128016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37490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498080" y="43159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3657600"/>
            <a:ext cx="1920240" cy="128016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92640" y="37490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692640" y="43159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03520" y="516636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citizens, officials, and communities through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tools built for transparency and accountability.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CIVIC CRISIS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 Unprepared for Its Own Democracy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566160" cy="3657600"/>
          </a:xfrm>
          <a:prstGeom prst="roundRect">
            <a:avLst>
              <a:gd name="adj" fmla="val 4103"/>
            </a:avLst>
          </a:prstGeom>
          <a:solidFill>
            <a:srgbClr val="0D1B2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08760"/>
            <a:ext cx="3566160" cy="91440"/>
          </a:xfrm>
          <a:prstGeom prst="roundRect">
            <a:avLst>
              <a:gd name="adj" fmla="val 160000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35661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9164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8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Americans can name all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branches of government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08760"/>
            <a:ext cx="3566160" cy="3657600"/>
          </a:xfrm>
          <a:prstGeom prst="roundRect">
            <a:avLst>
              <a:gd name="adj" fmla="val 4103"/>
            </a:avLst>
          </a:prstGeom>
          <a:solidFill>
            <a:srgbClr val="0A1F12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508760"/>
            <a:ext cx="3566160" cy="91440"/>
          </a:xfrm>
          <a:prstGeom prst="roundRect">
            <a:avLst>
              <a:gd name="adj" fmla="val 160000"/>
            </a:avLst>
          </a:prstGeom>
          <a:solidFill>
            <a:srgbClr val="15803D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554480"/>
            <a:ext cx="3566160" cy="4572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0" y="169164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200" dirty="0"/>
          </a:p>
        </p:txBody>
      </p:sp>
      <p:sp>
        <p:nvSpPr>
          <p:cNvPr id="13" name="Text 11"/>
          <p:cNvSpPr/>
          <p:nvPr/>
        </p:nvSpPr>
        <p:spPr>
          <a:xfrm>
            <a:off x="4434840" y="3127248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eligible voters under 30 did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vote in 2022 midterms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1508760"/>
            <a:ext cx="3566160" cy="3657600"/>
          </a:xfrm>
          <a:prstGeom prst="roundRect">
            <a:avLst>
              <a:gd name="adj" fmla="val 4103"/>
            </a:avLst>
          </a:prstGeom>
          <a:solidFill>
            <a:srgbClr val="0D1B2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1508760"/>
            <a:ext cx="3566160" cy="91440"/>
          </a:xfrm>
          <a:prstGeom prst="roundRect">
            <a:avLst>
              <a:gd name="adj" fmla="val 160000"/>
            </a:avLst>
          </a:prstGeom>
          <a:solidFill>
            <a:srgbClr val="3B82F6"/>
          </a:solidFill>
          <a:ln/>
        </p:spPr>
      </p:sp>
      <p:sp>
        <p:nvSpPr>
          <p:cNvPr id="16" name="Shape 14"/>
          <p:cNvSpPr/>
          <p:nvPr/>
        </p:nvSpPr>
        <p:spPr>
          <a:xfrm>
            <a:off x="8138160" y="1554480"/>
            <a:ext cx="35661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8138160" y="169164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8200" dirty="0"/>
          </a:p>
        </p:txBody>
      </p:sp>
      <p:sp>
        <p:nvSpPr>
          <p:cNvPr id="18" name="Text 16"/>
          <p:cNvSpPr/>
          <p:nvPr/>
        </p:nvSpPr>
        <p:spPr>
          <a:xfrm>
            <a:off x="8275320" y="3127248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teachers say students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basic civics knowledge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5376672"/>
            <a:ext cx="11274552" cy="777240"/>
          </a:xfrm>
          <a:prstGeom prst="roundRect">
            <a:avLst>
              <a:gd name="adj" fmla="val 14118"/>
            </a:avLst>
          </a:prstGeom>
          <a:solidFill>
            <a:srgbClr val="1E3A8A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5376672"/>
            <a:ext cx="182880" cy="777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5376672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America approaches its 250th birthday, civic illiteracy has reached a national crisis — and no scalable, AI-powered solution exists to address it.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Dimension of Civic Life.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" y="1371600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371600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" y="1408176"/>
            <a:ext cx="3621024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530352" y="1536192"/>
            <a:ext cx="530352" cy="530352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5179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70432" y="1554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Civic Tutor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2064" y="2176272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learning paths powered by AI — from the Constitution to current legislation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06240" y="1371600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15803D"/>
          </a:solidFill>
          <a:ln/>
        </p:spPr>
      </p:sp>
      <p:sp>
        <p:nvSpPr>
          <p:cNvPr id="15" name="Shape 13"/>
          <p:cNvSpPr/>
          <p:nvPr/>
        </p:nvSpPr>
        <p:spPr>
          <a:xfrm>
            <a:off x="4206240" y="1408176"/>
            <a:ext cx="3621024" cy="3657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6" name="Shape 14"/>
          <p:cNvSpPr/>
          <p:nvPr/>
        </p:nvSpPr>
        <p:spPr>
          <a:xfrm>
            <a:off x="4389120" y="1536192"/>
            <a:ext cx="530352" cy="530352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17" name="Text 15"/>
          <p:cNvSpPr/>
          <p:nvPr/>
        </p:nvSpPr>
        <p:spPr>
          <a:xfrm>
            <a:off x="4370832" y="15179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029200" y="1554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Civics Feed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70832" y="2176272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news contextualized through a civic lens, keeping users informed and engaged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1371600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65008" y="1371600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2563EB"/>
          </a:solidFill>
          <a:ln/>
        </p:spPr>
      </p:sp>
      <p:sp>
        <p:nvSpPr>
          <p:cNvPr id="22" name="Shape 20"/>
          <p:cNvSpPr/>
          <p:nvPr/>
        </p:nvSpPr>
        <p:spPr>
          <a:xfrm>
            <a:off x="8065008" y="1408176"/>
            <a:ext cx="3621024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536192"/>
            <a:ext cx="530352" cy="530352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15179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🏛️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887968" y="1554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Legislative Tracker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2176272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real bills in Congress and your state legislature; understand how laws are made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" y="3950208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" y="3950208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15803D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" y="3986784"/>
            <a:ext cx="3621024" cy="3657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0" name="Shape 28"/>
          <p:cNvSpPr/>
          <p:nvPr/>
        </p:nvSpPr>
        <p:spPr>
          <a:xfrm>
            <a:off x="530352" y="4114800"/>
            <a:ext cx="530352" cy="530352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" y="4096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170432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Debates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2064" y="4754880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moderated civic discussion forums that build democratic discourse skills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06240" y="3950208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206240" y="3950208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2563EB"/>
          </a:solidFill>
          <a:ln/>
        </p:spPr>
      </p:sp>
      <p:sp>
        <p:nvSpPr>
          <p:cNvPr id="36" name="Shape 34"/>
          <p:cNvSpPr/>
          <p:nvPr/>
        </p:nvSpPr>
        <p:spPr>
          <a:xfrm>
            <a:off x="4206240" y="3986784"/>
            <a:ext cx="3621024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Shape 35"/>
          <p:cNvSpPr/>
          <p:nvPr/>
        </p:nvSpPr>
        <p:spPr>
          <a:xfrm>
            <a:off x="4389120" y="4114800"/>
            <a:ext cx="530352" cy="530352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4370832" y="4096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02920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Progress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370832" y="4754880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challenges, quizzes, badges, and leaderboards that make learning addictive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065008" y="3950208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65008" y="3950208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15803D"/>
          </a:solidFill>
          <a:ln/>
        </p:spPr>
      </p:sp>
      <p:sp>
        <p:nvSpPr>
          <p:cNvPr id="43" name="Shape 41"/>
          <p:cNvSpPr/>
          <p:nvPr/>
        </p:nvSpPr>
        <p:spPr>
          <a:xfrm>
            <a:off x="8065008" y="3986784"/>
            <a:ext cx="3621024" cy="3657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44" name="Shape 42"/>
          <p:cNvSpPr/>
          <p:nvPr/>
        </p:nvSpPr>
        <p:spPr>
          <a:xfrm>
            <a:off x="8247888" y="4114800"/>
            <a:ext cx="530352" cy="530352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0" y="4096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8887968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Analytics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229600" y="4754880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for educators and administrators to track civic literacy growth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9" name="Shape 47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0" name="Text 48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America250 Moment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'Civix250' is purpose-built for this cultural moment. No other platform is positioned to be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civic engagement tool of the Semiquincentennial.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14400" y="3520440"/>
            <a:ext cx="10058400" cy="54864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6" name="Shape 4"/>
          <p:cNvSpPr/>
          <p:nvPr/>
        </p:nvSpPr>
        <p:spPr>
          <a:xfrm>
            <a:off x="1709928" y="336499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05740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057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3767328"/>
            <a:ext cx="2523744" cy="2423160"/>
          </a:xfrm>
          <a:prstGeom prst="roundRect">
            <a:avLst>
              <a:gd name="adj" fmla="val 4528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67328"/>
            <a:ext cx="2523744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3895344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Primaries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8992" y="4535424"/>
            <a:ext cx="22677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civic interest nationally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25112" y="3364992"/>
            <a:ext cx="329184" cy="32918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4" name="Shape 12"/>
          <p:cNvSpPr/>
          <p:nvPr/>
        </p:nvSpPr>
        <p:spPr>
          <a:xfrm>
            <a:off x="3621024" y="205740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16653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1024" y="2057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4, 2026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75304" y="3767328"/>
            <a:ext cx="2523744" cy="2423160"/>
          </a:xfrm>
          <a:prstGeom prst="roundRect">
            <a:avLst>
              <a:gd name="adj" fmla="val 4528"/>
            </a:avLst>
          </a:prstGeom>
          <a:solidFill>
            <a:srgbClr val="1E293B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75304" y="3767328"/>
            <a:ext cx="2523744" cy="73152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8" name="Text 16"/>
          <p:cNvSpPr/>
          <p:nvPr/>
        </p:nvSpPr>
        <p:spPr>
          <a:xfrm>
            <a:off x="3694176" y="3895344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250th Birthday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94176" y="4535424"/>
            <a:ext cx="22677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civic celebration — America250 partner opportunity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0296" y="336499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236208" y="205740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6208" y="2057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90488" y="3767328"/>
            <a:ext cx="2523744" cy="2423160"/>
          </a:xfrm>
          <a:prstGeom prst="roundRect">
            <a:avLst>
              <a:gd name="adj" fmla="val 4528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0488" y="3767328"/>
            <a:ext cx="2523744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3895344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Elections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09360" y="4535424"/>
            <a:ext cx="22677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civic engagement moment every 2 years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555480" y="3364992"/>
            <a:ext cx="329184" cy="32918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28" name="Shape 26"/>
          <p:cNvSpPr/>
          <p:nvPr/>
        </p:nvSpPr>
        <p:spPr>
          <a:xfrm>
            <a:off x="8851392" y="205740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16653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1392" y="2057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05672" y="3767328"/>
            <a:ext cx="2523744" cy="2423160"/>
          </a:xfrm>
          <a:prstGeom prst="roundRect">
            <a:avLst>
              <a:gd name="adj" fmla="val 4528"/>
            </a:avLst>
          </a:prstGeom>
          <a:solidFill>
            <a:srgbClr val="1E293B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05672" y="3767328"/>
            <a:ext cx="2523744" cy="73152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2" name="Text 30"/>
          <p:cNvSpPr/>
          <p:nvPr/>
        </p:nvSpPr>
        <p:spPr>
          <a:xfrm>
            <a:off x="8924544" y="3895344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Growth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924544" y="4535424"/>
            <a:ext cx="22677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becomes the civic habit for a generation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AUDIENCE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User Groups, One Ecosystem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" y="1353312"/>
            <a:ext cx="3694176" cy="5257800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353312"/>
            <a:ext cx="3694176" cy="1280160"/>
          </a:xfrm>
          <a:prstGeom prst="roundRect">
            <a:avLst>
              <a:gd name="adj" fmla="val 12857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" y="2304288"/>
            <a:ext cx="3694176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" y="1426464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912" y="1993392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Adults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" y="2697480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14–30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3017520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60M+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38912" y="363931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" y="3950208"/>
            <a:ext cx="314553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" y="413308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409651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7824" y="40599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civic quizzes and challenges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" y="458114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45445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77824" y="450799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 explains complex topics simply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" y="50292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49926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77824" y="49560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sharing of civic achievements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" y="54772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54406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77824" y="540410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tracker keeps them policy-aware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79392" y="1353312"/>
            <a:ext cx="3694176" cy="5257800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279392" y="1353312"/>
            <a:ext cx="3694176" cy="1280160"/>
          </a:xfrm>
          <a:prstGeom prst="roundRect">
            <a:avLst>
              <a:gd name="adj" fmla="val 12857"/>
            </a:avLst>
          </a:prstGeom>
          <a:solidFill>
            <a:srgbClr val="15803D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9392" y="2304288"/>
            <a:ext cx="3694176" cy="329184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0" name="Text 28"/>
          <p:cNvSpPr/>
          <p:nvPr/>
        </p:nvSpPr>
        <p:spPr>
          <a:xfrm>
            <a:off x="4279392" y="1426464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370832" y="1993392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Schools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370832" y="2697480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K-12 &amp; Higher 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0832" y="3017520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3.7M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4370832" y="363931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53712" y="3950208"/>
            <a:ext cx="314553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Shape 34"/>
          <p:cNvSpPr/>
          <p:nvPr/>
        </p:nvSpPr>
        <p:spPr>
          <a:xfrm>
            <a:off x="4535424" y="413308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37" name="Text 35"/>
          <p:cNvSpPr/>
          <p:nvPr/>
        </p:nvSpPr>
        <p:spPr>
          <a:xfrm>
            <a:off x="4535424" y="409651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9744" y="40599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Classroom-ready civic content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58114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40" name="Text 38"/>
          <p:cNvSpPr/>
          <p:nvPr/>
        </p:nvSpPr>
        <p:spPr>
          <a:xfrm>
            <a:off x="4535424" y="45445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09744" y="450799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progress dashboards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35424" y="50292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43" name="Text 41"/>
          <p:cNvSpPr/>
          <p:nvPr/>
        </p:nvSpPr>
        <p:spPr>
          <a:xfrm>
            <a:off x="4535424" y="49926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09744" y="49560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to AP Gov, Civics standards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35424" y="54772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46" name="Text 44"/>
          <p:cNvSpPr/>
          <p:nvPr/>
        </p:nvSpPr>
        <p:spPr>
          <a:xfrm>
            <a:off x="4535424" y="54406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9744" y="540410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 or replace textbooks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211312" y="1353312"/>
            <a:ext cx="3694176" cy="5257800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11312" y="1353312"/>
            <a:ext cx="3694176" cy="1280160"/>
          </a:xfrm>
          <a:prstGeom prst="roundRect">
            <a:avLst>
              <a:gd name="adj" fmla="val 12857"/>
            </a:avLst>
          </a:prstGeom>
          <a:solidFill>
            <a:srgbClr val="2563EB"/>
          </a:solidFill>
          <a:ln/>
        </p:spPr>
      </p:sp>
      <p:sp>
        <p:nvSpPr>
          <p:cNvPr id="50" name="Shape 48"/>
          <p:cNvSpPr/>
          <p:nvPr/>
        </p:nvSpPr>
        <p:spPr>
          <a:xfrm>
            <a:off x="8211312" y="2304288"/>
            <a:ext cx="3694176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1" name="Text 49"/>
          <p:cNvSpPr/>
          <p:nvPr/>
        </p:nvSpPr>
        <p:spPr>
          <a:xfrm>
            <a:off x="8211312" y="1426464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52" name="Text 50"/>
          <p:cNvSpPr/>
          <p:nvPr/>
        </p:nvSpPr>
        <p:spPr>
          <a:xfrm>
            <a:off x="8302752" y="1993392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Orgs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Libraries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302752" y="2697480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Public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02752" y="3017520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17K+</a:t>
            </a:r>
            <a:endParaRPr lang="en-US" sz="4000" dirty="0"/>
          </a:p>
        </p:txBody>
      </p:sp>
      <p:sp>
        <p:nvSpPr>
          <p:cNvPr id="55" name="Text 53"/>
          <p:cNvSpPr/>
          <p:nvPr/>
        </p:nvSpPr>
        <p:spPr>
          <a:xfrm>
            <a:off x="8302752" y="363931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libraries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485632" y="3950208"/>
            <a:ext cx="314553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5"/>
          <p:cNvSpPr/>
          <p:nvPr/>
        </p:nvSpPr>
        <p:spPr>
          <a:xfrm>
            <a:off x="8467344" y="413308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58" name="Text 56"/>
          <p:cNvSpPr/>
          <p:nvPr/>
        </p:nvSpPr>
        <p:spPr>
          <a:xfrm>
            <a:off x="8467344" y="409651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41664" y="40599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education resources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467344" y="458114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8467344" y="45445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741664" y="450799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discussion forums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467344" y="50292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64" name="Text 62"/>
          <p:cNvSpPr/>
          <p:nvPr/>
        </p:nvSpPr>
        <p:spPr>
          <a:xfrm>
            <a:off x="8467344" y="49926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741664" y="49560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Legislative tracking for advocates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467344" y="54772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67" name="Text 65"/>
          <p:cNvSpPr/>
          <p:nvPr/>
        </p:nvSpPr>
        <p:spPr>
          <a:xfrm>
            <a:off x="8467344" y="54406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741664" y="540410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Nonpartisan, trustworthy framing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0" name="Shape 68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1" name="Text 69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OPPORTUNITIES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Join the Movement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389888"/>
            <a:ext cx="3694176" cy="5029200"/>
          </a:xfrm>
          <a:prstGeom prst="roundRect">
            <a:avLst>
              <a:gd name="adj" fmla="val 3960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261872"/>
            <a:ext cx="3236976" cy="347472"/>
          </a:xfrm>
          <a:prstGeom prst="roundRect">
            <a:avLst>
              <a:gd name="adj" fmla="val 21053"/>
            </a:avLst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261872"/>
            <a:ext cx="3236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1572768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🏫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84632" y="2176272"/>
            <a:ext cx="3419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Departments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Education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" y="2926080"/>
            <a:ext cx="3419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embedded in state civic curriculum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" y="3438144"/>
            <a:ext cx="3145536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657600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850392" y="3584448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Co-branded platform experience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33088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" y="4059936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training and PD sessions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608576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" y="4535424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in all launch PR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5084064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" y="5010912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board seat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1389888"/>
            <a:ext cx="3694176" cy="5029200"/>
          </a:xfrm>
          <a:prstGeom prst="roundRect">
            <a:avLst>
              <a:gd name="adj" fmla="val 3960"/>
            </a:avLst>
          </a:prstGeom>
          <a:solidFill>
            <a:srgbClr val="1E293B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07992" y="1261872"/>
            <a:ext cx="3236976" cy="347472"/>
          </a:xfrm>
          <a:prstGeom prst="roundRect">
            <a:avLst>
              <a:gd name="adj" fmla="val 21053"/>
            </a:avLst>
          </a:prstGeom>
          <a:solidFill>
            <a:srgbClr val="16653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07992" y="1261872"/>
            <a:ext cx="3236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PARTNER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79392" y="1572768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416552" y="2176272"/>
            <a:ext cx="3419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&amp;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Systems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416552" y="2926080"/>
            <a:ext cx="3419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+ co-branded civic programs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53712" y="3438144"/>
            <a:ext cx="3145536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0" y="3657600"/>
            <a:ext cx="128016" cy="12801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27" name="Text 25"/>
          <p:cNvSpPr/>
          <p:nvPr/>
        </p:nvSpPr>
        <p:spPr>
          <a:xfrm>
            <a:off x="4782312" y="3584448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community modules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4133088"/>
            <a:ext cx="128016" cy="12801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29" name="Text 27"/>
          <p:cNvSpPr/>
          <p:nvPr/>
        </p:nvSpPr>
        <p:spPr>
          <a:xfrm>
            <a:off x="4782312" y="4059936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content creation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0" y="4608576"/>
            <a:ext cx="128016" cy="12801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1" name="Text 29"/>
          <p:cNvSpPr/>
          <p:nvPr/>
        </p:nvSpPr>
        <p:spPr>
          <a:xfrm>
            <a:off x="4782312" y="4535424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grant applications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5084064"/>
            <a:ext cx="128016" cy="12801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4782312" y="5010912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co-sponsorship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11312" y="1389888"/>
            <a:ext cx="3694176" cy="5029200"/>
          </a:xfrm>
          <a:prstGeom prst="roundRect">
            <a:avLst>
              <a:gd name="adj" fmla="val 39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39912" y="1261872"/>
            <a:ext cx="3236976" cy="347472"/>
          </a:xfrm>
          <a:prstGeom prst="roundRect">
            <a:avLst>
              <a:gd name="adj" fmla="val 21053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39912" y="1261872"/>
            <a:ext cx="3236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PARTNER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11312" y="1572768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8348472" y="2176272"/>
            <a:ext cx="3419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&amp; Publishing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8472" y="2926080"/>
            <a:ext cx="3419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integration + shared audiences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485632" y="3438144"/>
            <a:ext cx="3145536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3657600"/>
            <a:ext cx="128016" cy="1280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2" name="Text 40"/>
          <p:cNvSpPr/>
          <p:nvPr/>
        </p:nvSpPr>
        <p:spPr>
          <a:xfrm>
            <a:off x="8714232" y="3584448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Civics-in-the-news content feed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03920" y="4133088"/>
            <a:ext cx="128016" cy="1280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4" name="Text 42"/>
          <p:cNvSpPr/>
          <p:nvPr/>
        </p:nvSpPr>
        <p:spPr>
          <a:xfrm>
            <a:off x="8714232" y="4059936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Cross-promotion to readers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503920" y="4608576"/>
            <a:ext cx="128016" cy="1280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6" name="Text 44"/>
          <p:cNvSpPr/>
          <p:nvPr/>
        </p:nvSpPr>
        <p:spPr>
          <a:xfrm>
            <a:off x="8714232" y="4535424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civic explainer series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503920" y="5084064"/>
            <a:ext cx="128016" cy="1280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8" name="Text 46"/>
          <p:cNvSpPr/>
          <p:nvPr/>
        </p:nvSpPr>
        <p:spPr>
          <a:xfrm>
            <a:off x="8714232" y="5010912"/>
            <a:ext cx="2999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sharing on civic trends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73952"/>
            <a:ext cx="11247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partnerships are nonpartisan, noncommercial in content, and mission-driven.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1" name="Shape 49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2" name="Text 50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Civix250 Wins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374904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29844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0" y="1298448"/>
            <a:ext cx="1783080" cy="4754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187952" y="129844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1298448"/>
            <a:ext cx="178308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971032" y="129844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iCivics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298448"/>
            <a:ext cx="201168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7754112" y="129844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92640" y="1298448"/>
            <a:ext cx="178308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9765792" y="129844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Newsela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17739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Tutoring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7739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1773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97880" y="17739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52744" y="1773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80960" y="17739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17739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92640" y="17739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7504" y="1773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2231136"/>
            <a:ext cx="37490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2311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Legislative Tracker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0" y="22311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9664" y="2231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897880" y="22311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52744" y="2231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80960" y="2231136"/>
            <a:ext cx="20116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22311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692640" y="22311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7504" y="2231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26883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0624" y="26883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Events Integration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114800" y="26883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9664" y="26883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897880" y="26883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52744" y="26883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680960" y="26883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35824" y="2688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9692640" y="26883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47504" y="26883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3145536"/>
            <a:ext cx="37490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0624" y="31455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&amp; Badges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114800" y="31455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69664" y="31455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897880" y="31455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52744" y="31455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7680960" y="3145536"/>
            <a:ext cx="20116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35824" y="31455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9692640" y="31455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47504" y="31455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365760" y="36027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" y="36027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Discussion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114800" y="36027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69664" y="36027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897880" y="36027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52744" y="36027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680960" y="36027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35824" y="36027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9692640" y="36027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747504" y="36027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5760" y="4059936"/>
            <a:ext cx="37490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0624" y="4059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America250 Brand Alignment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114800" y="40599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169664" y="4059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5897880" y="40599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52744" y="4059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7680960" y="4059936"/>
            <a:ext cx="20116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35824" y="40599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9692640" y="40599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7504" y="4059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365760" y="45171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20624" y="45171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Tier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114800" y="45171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169664" y="4517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5897880" y="45171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52744" y="4517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7680960" y="45171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735824" y="45171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9692640" y="45171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747504" y="4517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365760" y="6035040"/>
            <a:ext cx="11457432" cy="594360"/>
          </a:xfrm>
          <a:prstGeom prst="roundRect">
            <a:avLst>
              <a:gd name="adj" fmla="val 15385"/>
            </a:avLst>
          </a:prstGeom>
          <a:solidFill>
            <a:srgbClr val="1E3A8A"/>
          </a:solidFill>
          <a:ln/>
        </p:spPr>
      </p:sp>
      <p:sp>
        <p:nvSpPr>
          <p:cNvPr id="87" name="Shape 85"/>
          <p:cNvSpPr/>
          <p:nvPr/>
        </p:nvSpPr>
        <p:spPr>
          <a:xfrm>
            <a:off x="365760" y="6035040"/>
            <a:ext cx="18288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8" name="Text 86"/>
          <p:cNvSpPr/>
          <p:nvPr/>
        </p:nvSpPr>
        <p:spPr>
          <a:xfrm>
            <a:off x="713232" y="603504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 is the only platform combining AI education, real-time legislation, news, and community — purpose-built for the America 250 moment.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0" name="Shape 88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1" name="Text 89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6576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37744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34086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4944" y="2304288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AI-powered platform deployed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9809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944368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944" y="2907792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feature set: Learn, Track, Engage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58444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354787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4944" y="3511296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legislative tracking active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18795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4151376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4944" y="4114800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&amp; progress system live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79145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47548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4944" y="4718304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 design complete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539496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535838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4944" y="5321808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user testing underway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77840" y="274320"/>
            <a:ext cx="6217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ROADMAP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64008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50-State Impact</a:t>
            </a:r>
            <a:endParaRPr lang="en-US" sz="2500" dirty="0"/>
          </a:p>
        </p:txBody>
      </p:sp>
      <p:sp>
        <p:nvSpPr>
          <p:cNvPr id="26" name="Shape 24"/>
          <p:cNvSpPr/>
          <p:nvPr/>
        </p:nvSpPr>
        <p:spPr>
          <a:xfrm>
            <a:off x="5925312" y="1920240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Shape 25"/>
          <p:cNvSpPr/>
          <p:nvPr/>
        </p:nvSpPr>
        <p:spPr>
          <a:xfrm>
            <a:off x="5797296" y="1664208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Shape 26"/>
          <p:cNvSpPr/>
          <p:nvPr/>
        </p:nvSpPr>
        <p:spPr>
          <a:xfrm>
            <a:off x="6236208" y="1627632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6236208" y="1627632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61504" y="162763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District Pilots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61504" y="19568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pilot programs with school districts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25312" y="2871216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5797296" y="2615184"/>
            <a:ext cx="310896" cy="31089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4" name="Shape 32"/>
          <p:cNvSpPr/>
          <p:nvPr/>
        </p:nvSpPr>
        <p:spPr>
          <a:xfrm>
            <a:off x="6236208" y="2578608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/>
        </p:spPr>
      </p:sp>
      <p:sp>
        <p:nvSpPr>
          <p:cNvPr id="35" name="Text 33"/>
          <p:cNvSpPr/>
          <p:nvPr/>
        </p:nvSpPr>
        <p:spPr>
          <a:xfrm>
            <a:off x="6236208" y="2578608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461504" y="257860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America250 July 4th Launch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461504" y="290779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national campaign for 250th anniversary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925312" y="3822192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Shape 37"/>
          <p:cNvSpPr/>
          <p:nvPr/>
        </p:nvSpPr>
        <p:spPr>
          <a:xfrm>
            <a:off x="5797296" y="356616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0" name="Shape 38"/>
          <p:cNvSpPr/>
          <p:nvPr/>
        </p:nvSpPr>
        <p:spPr>
          <a:xfrm>
            <a:off x="6236208" y="3529584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236208" y="3529584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61504" y="3529584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System Partnerships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461504" y="385876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library networks across key states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925312" y="4773168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Shape 43"/>
          <p:cNvSpPr/>
          <p:nvPr/>
        </p:nvSpPr>
        <p:spPr>
          <a:xfrm>
            <a:off x="5797296" y="4517136"/>
            <a:ext cx="310896" cy="31089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46" name="Shape 44"/>
          <p:cNvSpPr/>
          <p:nvPr/>
        </p:nvSpPr>
        <p:spPr>
          <a:xfrm>
            <a:off x="6236208" y="4480560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/>
        </p:spPr>
      </p:sp>
      <p:sp>
        <p:nvSpPr>
          <p:cNvPr id="47" name="Text 45"/>
          <p:cNvSpPr/>
          <p:nvPr/>
        </p:nvSpPr>
        <p:spPr>
          <a:xfrm>
            <a:off x="6236208" y="4480560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61504" y="448056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Cycle Features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61504" y="4809744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education and election engagement tools go live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797296" y="5468112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1" name="Shape 49"/>
          <p:cNvSpPr/>
          <p:nvPr/>
        </p:nvSpPr>
        <p:spPr>
          <a:xfrm>
            <a:off x="6236208" y="5431536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/>
        </p:spPr>
      </p:sp>
      <p:sp>
        <p:nvSpPr>
          <p:cNvPr id="52" name="Text 50"/>
          <p:cNvSpPr/>
          <p:nvPr/>
        </p:nvSpPr>
        <p:spPr>
          <a:xfrm>
            <a:off x="6236208" y="5431536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461504" y="543153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50-State School District Rollout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461504" y="57607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scale across all US school districts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6" name="Shape 54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 ASK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Looking For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38988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1389888"/>
            <a:ext cx="365760" cy="2395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02336" y="152704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0624" y="204825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🏅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71600" y="159105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Endorsement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12140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partnership or 'recommended resource' designation to legitimize and accelerate adoption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36208" y="138988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36208" y="138988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15803D"/>
          </a:solidFill>
          <a:ln/>
        </p:spPr>
      </p:sp>
      <p:sp>
        <p:nvSpPr>
          <p:cNvPr id="15" name="Shape 13"/>
          <p:cNvSpPr/>
          <p:nvPr/>
        </p:nvSpPr>
        <p:spPr>
          <a:xfrm>
            <a:off x="6784848" y="1389888"/>
            <a:ext cx="365760" cy="2395728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152704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9360" y="204825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📣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260336" y="159105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Access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60336" y="212140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us reach your members, students, libraries, or subscribers through newsletters and events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7472" y="395020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7472" y="395020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3950208"/>
            <a:ext cx="365760" cy="2395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402336" y="408736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20624" y="460857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415137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Collaboration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468172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Co-create civics content, lesson plans, or civic challenges that serve both our audiences and your mission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36208" y="395020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6208" y="395020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15803D"/>
          </a:solidFill>
          <a:ln/>
        </p:spPr>
      </p:sp>
      <p:sp>
        <p:nvSpPr>
          <p:cNvPr id="29" name="Shape 27"/>
          <p:cNvSpPr/>
          <p:nvPr/>
        </p:nvSpPr>
        <p:spPr>
          <a:xfrm>
            <a:off x="6784848" y="3950208"/>
            <a:ext cx="365760" cy="2395728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0" name="Text 28"/>
          <p:cNvSpPr/>
          <p:nvPr/>
        </p:nvSpPr>
        <p:spPr>
          <a:xfrm>
            <a:off x="6291072" y="408736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309360" y="460857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260336" y="415137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&amp; Funding Connections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0336" y="468172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civic education grant opportunities or joint funding applications for scale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8229600" cy="82296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1371600"/>
            <a:ext cx="7315200" cy="7315200"/>
          </a:xfrm>
          <a:prstGeom prst="ellipse">
            <a:avLst/>
          </a:prstGeom>
          <a:solidFill>
            <a:srgbClr val="0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01168"/>
            <a:ext cx="12188952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IN BUILDING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112471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Civically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 America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4114800" y="3364992"/>
            <a:ext cx="39593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547872"/>
            <a:ext cx="9418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4, 2026 is not just a birthday — it's an opportunity to reset the civic literacy of a nation.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 is the platform built for this moment. We'd love to build it with you.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73168"/>
            <a:ext cx="301752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47731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760720" y="4773168"/>
            <a:ext cx="3017520" cy="594360"/>
          </a:xfrm>
          <a:prstGeom prst="roundRect">
            <a:avLst>
              <a:gd name="adj" fmla="val 18462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0" y="47731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Platform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65099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035040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"Democracy is not a spectator sport."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6656832"/>
            <a:ext cx="12188952" cy="100584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6757416"/>
            <a:ext cx="12188952" cy="100584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2026-06-04T18:23:32Z</dcterms:created>
  <dcterms:modified xsi:type="dcterms:W3CDTF">2026-06-04T18:23:32Z</dcterms:modified>
</cp:coreProperties>
</file>