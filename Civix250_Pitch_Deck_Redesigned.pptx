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4416552" cy="1097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109728"/>
            <a:ext cx="4416552" cy="1097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America's Civic Intelligence Platform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365760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8404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civic education, legislative tracking, and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engagement — built for America's 250th anniversary.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84632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8463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PROPOSAL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civix250.ai  · 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1097280"/>
            <a:ext cx="5029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12244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2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CIVIC CRISIS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 Unprepared for Its Own Democracy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474720" cy="3474720"/>
          </a:xfrm>
          <a:prstGeom prst="roundRect">
            <a:avLst>
              <a:gd name="adj" fmla="val 3947"/>
            </a:avLst>
          </a:prstGeom>
          <a:solidFill>
            <a:srgbClr val="112244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347472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202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94360" y="33375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Americans can name all 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of government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474720" cy="3474720"/>
          </a:xfrm>
          <a:prstGeom prst="roundRect">
            <a:avLst>
              <a:gd name="adj" fmla="val 3947"/>
            </a:avLst>
          </a:prstGeom>
          <a:solidFill>
            <a:srgbClr val="1122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691640"/>
            <a:ext cx="34747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9202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4434840" y="33375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eligible voters under 30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vote in 2022 midterms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474720" cy="3474720"/>
          </a:xfrm>
          <a:prstGeom prst="roundRect">
            <a:avLst>
              <a:gd name="adj" fmla="val 3947"/>
            </a:avLst>
          </a:prstGeom>
          <a:solidFill>
            <a:srgbClr val="112244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691640"/>
            <a:ext cx="3474720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9202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8000" dirty="0"/>
          </a:p>
        </p:txBody>
      </p:sp>
      <p:sp>
        <p:nvSpPr>
          <p:cNvPr id="15" name="Text 13"/>
          <p:cNvSpPr/>
          <p:nvPr/>
        </p:nvSpPr>
        <p:spPr>
          <a:xfrm>
            <a:off x="8275320" y="33375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teachers say students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basic civics knowledge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5532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America approaches its 250th birthday, civic illiteracy has reached a national crisis — and no scalable, AI-powered solution exists to address it.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6583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CIVIX250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Dimension of Civic Life.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CBD5E1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64008" cy="2286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3619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0299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Civic Tutor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39572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paths powered by AI — from the Constitution to current legislation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87952" y="137160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CBD5E1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87952" y="1371600"/>
            <a:ext cx="64008" cy="2286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370832" y="153619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📰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370832" y="20299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Civics Feed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70832" y="239572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news contextualized through a civic lens, keeping users informed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10144" y="137160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CBD5E1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10144" y="1371600"/>
            <a:ext cx="64008" cy="2286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8193024" y="153619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🏛️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193024" y="20299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Legislative Tracker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93024" y="239572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real bills in Congress and your state legislature; understand how laws are made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CBD5E1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86200"/>
            <a:ext cx="64008" cy="2286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05079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8640" y="45445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Debates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491032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moderated civic discussion forums that build democratic discourse skills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87952" y="388620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CBD5E1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87952" y="3886200"/>
            <a:ext cx="64008" cy="2286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4370832" y="405079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370832" y="45445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Progress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370832" y="491032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challenges, quizzes, badges, and leaderboards that make learning addictive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10144" y="388620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CBD5E1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10144" y="3886200"/>
            <a:ext cx="64008" cy="2286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8193024" y="405079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193024" y="45445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Analytics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193024" y="4910328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for educators and administrators to track civic literacy growth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" y="6583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America250 Moment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3474720"/>
            <a:ext cx="10058400" cy="457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3337560"/>
            <a:ext cx="320040" cy="3200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0120" y="379476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112244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931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Primaries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6177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civic interest nationally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333756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4,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379476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1122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3931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America's 250th Birthday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46177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civic celebration in US history — America250 partner opportunity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3337560"/>
            <a:ext cx="320040" cy="3200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379476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112244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3931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Elections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46177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civic engagement moment every 2 years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464040" y="3337560"/>
            <a:ext cx="320040" cy="3200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873252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778240" y="379476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11224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3931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Growth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869680" y="46177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becomes the civic habit for a generation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1920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'Civix250' is purpose-built for this cultural moment. No other platform is positioned to be the civic engagement tool of the Semiquincentennial.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74320" y="6583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CIVIX250 SERVES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User Groups, One Ecosystem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657600" cy="5257800"/>
          </a:xfrm>
          <a:prstGeom prst="roundRect">
            <a:avLst>
              <a:gd name="adj" fmla="val 4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CBD5E1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3657600" cy="1188720"/>
          </a:xfrm>
          <a:prstGeom prst="roundRect">
            <a:avLst>
              <a:gd name="adj" fmla="val 13846"/>
            </a:avLst>
          </a:prstGeom>
          <a:solidFill>
            <a:srgbClr val="1D4ED8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2148840"/>
            <a:ext cx="3657600" cy="3657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8988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90195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14–30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" y="3456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US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8221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Gamified civic quizzes and challenges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2611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tutor explains complex topics simply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70001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Social sharing of civic achievements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1389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Bill tracker keeps them policy-aware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79392" y="1325880"/>
            <a:ext cx="3657600" cy="5257800"/>
          </a:xfrm>
          <a:prstGeom prst="roundRect">
            <a:avLst>
              <a:gd name="adj" fmla="val 4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CBD5E1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79392" y="1325880"/>
            <a:ext cx="3657600" cy="1188720"/>
          </a:xfrm>
          <a:prstGeom prst="roundRect">
            <a:avLst>
              <a:gd name="adj" fmla="val 13846"/>
            </a:avLst>
          </a:prstGeom>
          <a:solidFill>
            <a:srgbClr val="DC2626"/>
          </a:solidFill>
          <a:ln/>
        </p:spPr>
      </p:sp>
      <p:sp>
        <p:nvSpPr>
          <p:cNvPr id="19" name="Shape 17"/>
          <p:cNvSpPr/>
          <p:nvPr/>
        </p:nvSpPr>
        <p:spPr>
          <a:xfrm>
            <a:off x="4279392" y="2148840"/>
            <a:ext cx="365760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4279392" y="138988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370832" y="190195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Schools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370832" y="2560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K-12 &amp; Higher 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70832" y="28803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3.7M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370832" y="3456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62272" y="38221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Classroom-ready civic content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62272" y="42611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Student progress dashboards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62272" y="470001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Aligns to AP Gov, Civics standards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62272" y="51389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Supplement or replace textbooks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93024" y="1325880"/>
            <a:ext cx="3657600" cy="5257800"/>
          </a:xfrm>
          <a:prstGeom prst="roundRect">
            <a:avLst>
              <a:gd name="adj" fmla="val 4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CBD5E1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93024" y="1325880"/>
            <a:ext cx="3657600" cy="1188720"/>
          </a:xfrm>
          <a:prstGeom prst="roundRect">
            <a:avLst>
              <a:gd name="adj" fmla="val 13846"/>
            </a:avLst>
          </a:prstGeom>
          <a:solidFill>
            <a:srgbClr val="16A34A"/>
          </a:solidFill>
          <a:ln/>
        </p:spPr>
      </p:sp>
      <p:sp>
        <p:nvSpPr>
          <p:cNvPr id="31" name="Shape 29"/>
          <p:cNvSpPr/>
          <p:nvPr/>
        </p:nvSpPr>
        <p:spPr>
          <a:xfrm>
            <a:off x="8193024" y="2148840"/>
            <a:ext cx="3657600" cy="3657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2" name="Text 30"/>
          <p:cNvSpPr/>
          <p:nvPr/>
        </p:nvSpPr>
        <p:spPr>
          <a:xfrm>
            <a:off x="8193024" y="138988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8284464" y="190195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Organizations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Libraries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84464" y="2560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Public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84464" y="28803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17K+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8284464" y="3456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libraries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75904" y="38221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Voter education resources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75904" y="42611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Community discussion forums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75904" y="470001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Legislative tracking for advocates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375904" y="51389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Nonpartisan, trustworthy framing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4320" y="6583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OPPORTUNITIES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Join the Movement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3657600" cy="5120640"/>
          </a:xfrm>
          <a:prstGeom prst="roundRect">
            <a:avLst>
              <a:gd name="adj" fmla="val 4500"/>
            </a:avLst>
          </a:prstGeom>
          <a:solidFill>
            <a:srgbClr val="1122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98448"/>
            <a:ext cx="3200400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984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🏫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Departments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Education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971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embedded in state civic curriculum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493008"/>
            <a:ext cx="3108960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68503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6301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Co-branded platform experience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14223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40873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training and PD sessions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59943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5445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in all launch PR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05663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50017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board seat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79392" y="1417320"/>
            <a:ext cx="3657600" cy="5120640"/>
          </a:xfrm>
          <a:prstGeom prst="roundRect">
            <a:avLst>
              <a:gd name="adj" fmla="val 4500"/>
            </a:avLst>
          </a:prstGeom>
          <a:solidFill>
            <a:srgbClr val="112244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62272" y="1298448"/>
            <a:ext cx="3200400" cy="347472"/>
          </a:xfrm>
          <a:prstGeom prst="roundRect">
            <a:avLst>
              <a:gd name="adj" fmla="val 21053"/>
            </a:avLst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4462272" y="12984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PARTNER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79392" y="1691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416552" y="22860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Nonprofit &amp;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Systems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16552" y="2971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access + co-branded civic programs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53712" y="3493008"/>
            <a:ext cx="3108960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4553712" y="3685032"/>
            <a:ext cx="109728" cy="10972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6301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community modules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53712" y="4142232"/>
            <a:ext cx="109728" cy="10972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40873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content creation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53712" y="4599432"/>
            <a:ext cx="109728" cy="10972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45445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grant applications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53712" y="5056632"/>
            <a:ext cx="109728" cy="10972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50017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co-sponsorship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93024" y="1417320"/>
            <a:ext cx="3657600" cy="5120640"/>
          </a:xfrm>
          <a:prstGeom prst="roundRect">
            <a:avLst>
              <a:gd name="adj" fmla="val 4500"/>
            </a:avLst>
          </a:prstGeom>
          <a:solidFill>
            <a:srgbClr val="112244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75904" y="1298448"/>
            <a:ext cx="3200400" cy="347472"/>
          </a:xfrm>
          <a:prstGeom prst="roundRect">
            <a:avLst>
              <a:gd name="adj" fmla="val 21053"/>
            </a:avLst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8375904" y="12984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PARTNER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193024" y="1691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8330184" y="22860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&amp; Publishing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30184" y="2971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integration + shared audiences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467344" y="3493008"/>
            <a:ext cx="3108960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1" name="Shape 39"/>
          <p:cNvSpPr/>
          <p:nvPr/>
        </p:nvSpPr>
        <p:spPr>
          <a:xfrm>
            <a:off x="8467344" y="3685032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2" name="Text 40"/>
          <p:cNvSpPr/>
          <p:nvPr/>
        </p:nvSpPr>
        <p:spPr>
          <a:xfrm>
            <a:off x="8668512" y="36301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Civics-in-the-news content feed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67344" y="4142232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4" name="Text 42"/>
          <p:cNvSpPr/>
          <p:nvPr/>
        </p:nvSpPr>
        <p:spPr>
          <a:xfrm>
            <a:off x="8668512" y="40873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Cross-promotion to readers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467344" y="4599432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6" name="Text 44"/>
          <p:cNvSpPr/>
          <p:nvPr/>
        </p:nvSpPr>
        <p:spPr>
          <a:xfrm>
            <a:off x="8668512" y="45445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civic explainer series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467344" y="5056632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8" name="Text 46"/>
          <p:cNvSpPr/>
          <p:nvPr/>
        </p:nvSpPr>
        <p:spPr>
          <a:xfrm>
            <a:off x="8668512" y="50017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sharing on civic trends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partnerships are nonpartisan, noncommercial in content, and mission-driven.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74320" y="6583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Civix250 Wins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657600" cy="5029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2801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23360" y="1280160"/>
            <a:ext cx="1737360" cy="5029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4096512" y="1280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1280160"/>
            <a:ext cx="1737360" cy="5029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10" name="Text 8"/>
          <p:cNvSpPr/>
          <p:nvPr/>
        </p:nvSpPr>
        <p:spPr>
          <a:xfrm>
            <a:off x="5833872" y="1280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iCivics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0" y="1280160"/>
            <a:ext cx="2011680" cy="5029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12" name="Text 10"/>
          <p:cNvSpPr/>
          <p:nvPr/>
        </p:nvSpPr>
        <p:spPr>
          <a:xfrm>
            <a:off x="7571232" y="1280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Academy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509760" y="1280160"/>
            <a:ext cx="1737360" cy="5029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14" name="Text 12"/>
          <p:cNvSpPr/>
          <p:nvPr/>
        </p:nvSpPr>
        <p:spPr>
          <a:xfrm>
            <a:off x="9582912" y="1280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Newsela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8308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78308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Tutoring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23360" y="1783080"/>
            <a:ext cx="17373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9080" y="178308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0720" y="1783080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178308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98080" y="178308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17830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509760" y="1783080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55480" y="178308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2258568"/>
            <a:ext cx="365760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25856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Legislative Tracker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023360" y="2258568"/>
            <a:ext cx="17373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69080" y="225856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760720" y="2258568"/>
            <a:ext cx="173736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225856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498080" y="2258568"/>
            <a:ext cx="201168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0" y="22585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509760" y="2258568"/>
            <a:ext cx="173736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55480" y="225856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273405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73405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Events Integration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023360" y="2734056"/>
            <a:ext cx="17373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69080" y="273405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760720" y="2734056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273405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498080" y="2734056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43800" y="273405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9509760" y="2734056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55480" y="273405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3209544"/>
            <a:ext cx="365760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20954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&amp; Badges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023360" y="3209544"/>
            <a:ext cx="17373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69080" y="320954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760720" y="3209544"/>
            <a:ext cx="173736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06440" y="320954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498080" y="3209544"/>
            <a:ext cx="201168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43800" y="320954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9509760" y="3209544"/>
            <a:ext cx="173736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555480" y="320954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365760" y="368503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368503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Discussion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023360" y="3685032"/>
            <a:ext cx="17373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69080" y="368503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760720" y="3685032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06440" y="368503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498080" y="3685032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43800" y="368503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9509760" y="3685032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555480" y="368503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365760" y="4160520"/>
            <a:ext cx="365760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1480" y="416052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America250 Brand Alignment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4023360" y="4160520"/>
            <a:ext cx="17373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69080" y="41605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5760720" y="4160520"/>
            <a:ext cx="173736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06440" y="41605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7498080" y="4160520"/>
            <a:ext cx="201168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43800" y="416052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9509760" y="4160520"/>
            <a:ext cx="173736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555480" y="41605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365760" y="4636008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11480" y="463600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Access Tier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4023360" y="4636008"/>
            <a:ext cx="17373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069080" y="463600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5760720" y="4636008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806440" y="463600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7498080" y="46360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543800" y="46360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9509760" y="4636008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555480" y="463600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365760" y="5989320"/>
            <a:ext cx="11430000" cy="594360"/>
          </a:xfrm>
          <a:prstGeom prst="roundRect">
            <a:avLst>
              <a:gd name="adj" fmla="val 15385"/>
            </a:avLst>
          </a:prstGeom>
          <a:solidFill>
            <a:srgbClr val="0B1D3A"/>
          </a:solidFill>
          <a:ln/>
        </p:spPr>
      </p:sp>
      <p:sp>
        <p:nvSpPr>
          <p:cNvPr id="86" name="Text 84"/>
          <p:cNvSpPr/>
          <p:nvPr/>
        </p:nvSpPr>
        <p:spPr>
          <a:xfrm>
            <a:off x="548640" y="598932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 is the only platform combining AI education, real-time legislation, news, and community — purpose-built for the America 250 moment.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7830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2313432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2402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AI-powered platform deployed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907792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8346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 set: Learn, Track, Engage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502152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3429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legislative tracking active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4096512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4023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&amp; progress system live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690872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4617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design complete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5285232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5212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user testing underway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77840" y="3200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ROADMAP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685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to 50-State Impact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916168" y="1847088"/>
            <a:ext cx="54864" cy="6583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5788152" y="1618488"/>
            <a:ext cx="310896" cy="31089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1572768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1D4ED8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57276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06640" y="15727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District Pilots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06640" y="190195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pilot programs with school districts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16168" y="2779776"/>
            <a:ext cx="54864" cy="6583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5788152" y="2551176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2505456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25054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06640" y="250545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America250 July 4th Launch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06640" y="28346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national campaign for 250th anniversary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16168" y="3712464"/>
            <a:ext cx="54864" cy="6583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30"/>
          <p:cNvSpPr/>
          <p:nvPr/>
        </p:nvSpPr>
        <p:spPr>
          <a:xfrm>
            <a:off x="5788152" y="3483864"/>
            <a:ext cx="310896" cy="3108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3" name="Shape 31"/>
          <p:cNvSpPr/>
          <p:nvPr/>
        </p:nvSpPr>
        <p:spPr>
          <a:xfrm>
            <a:off x="6217920" y="3438144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343814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06640" y="343814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System Partnerships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406640" y="37673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library networks across key states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16168" y="4645152"/>
            <a:ext cx="54864" cy="6583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Shape 36"/>
          <p:cNvSpPr/>
          <p:nvPr/>
        </p:nvSpPr>
        <p:spPr>
          <a:xfrm>
            <a:off x="5788152" y="4416552"/>
            <a:ext cx="310896" cy="31089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9" name="Shape 37"/>
          <p:cNvSpPr/>
          <p:nvPr/>
        </p:nvSpPr>
        <p:spPr>
          <a:xfrm>
            <a:off x="6217920" y="4370832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0" y="43708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406640" y="437083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Cycle Features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406640" y="470001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 education and engagement tools go live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788152" y="5349240"/>
            <a:ext cx="310896" cy="310896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44" name="Shape 42"/>
          <p:cNvSpPr/>
          <p:nvPr/>
        </p:nvSpPr>
        <p:spPr>
          <a:xfrm>
            <a:off x="6217920" y="530352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0B1D3A"/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0" y="53035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06640" y="53035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50-State School District Rollout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406640" y="563270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scale across all US school districts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74320" y="6583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PARTNERSHIP 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Looking For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5577840" cy="233172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BD5E1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822960" cy="23317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371600"/>
            <a:ext cx="365760" cy="2331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463040"/>
            <a:ext cx="676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🏅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5544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Endorsement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084832"/>
            <a:ext cx="4434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partnership or 'recommended resource' designation from your organization to legitimize and accelerate adoption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371600"/>
            <a:ext cx="5577840" cy="233172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BD5E1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371600"/>
            <a:ext cx="822960" cy="233172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/>
        </p:spPr>
      </p:sp>
      <p:sp>
        <p:nvSpPr>
          <p:cNvPr id="14" name="Shape 12"/>
          <p:cNvSpPr/>
          <p:nvPr/>
        </p:nvSpPr>
        <p:spPr>
          <a:xfrm>
            <a:off x="6629400" y="1371600"/>
            <a:ext cx="365760" cy="23317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6245352" y="1463040"/>
            <a:ext cx="676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7920" y="1965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📣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132320" y="15544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Access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0" y="2084832"/>
            <a:ext cx="4434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 reach your members, students, libraries, or subscribers through newsletters, emails, and events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5577840" cy="233172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BD5E1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86200"/>
            <a:ext cx="822960" cy="233172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3886200"/>
            <a:ext cx="365760" cy="2331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3977640"/>
            <a:ext cx="676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11480" y="4480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325880" y="40690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Collaboration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4599432"/>
            <a:ext cx="4434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Co-create civics content, lesson plans, or civic challenges that serve both our audiences and your mission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3886200"/>
            <a:ext cx="5577840" cy="233172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BD5E1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3886200"/>
            <a:ext cx="822960" cy="233172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6629400" y="3886200"/>
            <a:ext cx="365760" cy="2331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9" name="Text 27"/>
          <p:cNvSpPr/>
          <p:nvPr/>
        </p:nvSpPr>
        <p:spPr>
          <a:xfrm>
            <a:off x="6245352" y="3977640"/>
            <a:ext cx="676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217920" y="4480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132320" y="40690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&amp; Funding Connections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32320" y="4599432"/>
            <a:ext cx="4434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civic education grant opportunities or joint funding applications for scale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74320" y="6583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7315200" cy="7315200"/>
          </a:xfrm>
          <a:prstGeom prst="ellipse">
            <a:avLst/>
          </a:prstGeom>
          <a:solidFill>
            <a:srgbClr val="11224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1828800"/>
            <a:ext cx="6400800" cy="6400800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9728"/>
            <a:ext cx="12188952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19456"/>
            <a:ext cx="12188952" cy="1097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IN BUILDING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Civically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America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4114800" y="3291840"/>
            <a:ext cx="3959352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47472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4, 2026 is not just a birthday — it's an opportunity to reset the civic literacy of a nation.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 is the platform built for this moment. We'd love to build it with you.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94560" y="4754880"/>
            <a:ext cx="320040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47548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Call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852160" y="4754880"/>
            <a:ext cx="3200400" cy="594360"/>
          </a:xfrm>
          <a:prstGeom prst="roundRect">
            <a:avLst>
              <a:gd name="adj" fmla="val 18462"/>
            </a:avLst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47548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Platform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5623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civix250.ai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"Democracy is not a spectator sport."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528816"/>
            <a:ext cx="12188952" cy="1097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638544"/>
            <a:ext cx="12188952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C262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2026-06-04T18:18:32Z</dcterms:created>
  <dcterms:modified xsi:type="dcterms:W3CDTF">2026-06-04T18:18:32Z</dcterms:modified>
</cp:coreProperties>
</file>