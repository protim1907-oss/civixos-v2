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79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22402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4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7400" dirty="0"/>
          </a:p>
        </p:txBody>
      </p:sp>
      <p:sp>
        <p:nvSpPr>
          <p:cNvPr id="5" name="Shape 3"/>
          <p:cNvSpPr/>
          <p:nvPr/>
        </p:nvSpPr>
        <p:spPr>
          <a:xfrm>
            <a:off x="365760" y="3246120"/>
            <a:ext cx="329184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33832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Civic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4498848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4498848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PROPOSAL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6309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  · 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0" y="1371600"/>
            <a:ext cx="6492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civic education, legislative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and community engagement —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America's 250th anniversary.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303520" y="3246120"/>
            <a:ext cx="1993392" cy="1325880"/>
          </a:xfrm>
          <a:prstGeom prst="roundRect">
            <a:avLst>
              <a:gd name="adj" fmla="val 965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0" y="333756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303520" y="3968496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16368" y="3246120"/>
            <a:ext cx="1993392" cy="1325880"/>
          </a:xfrm>
          <a:prstGeom prst="roundRect">
            <a:avLst>
              <a:gd name="adj" fmla="val 9655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16368" y="333756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516368" y="3968496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729216" y="3246120"/>
            <a:ext cx="1993392" cy="1325880"/>
          </a:xfrm>
          <a:prstGeom prst="roundRect">
            <a:avLst>
              <a:gd name="adj" fmla="val 965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29216" y="333756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729216" y="3968496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484632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citizens, officials, and communities through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tools built for transparency and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CIVIC CRISIS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 Unprepared for Its Own Democracy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566160" cy="3840480"/>
          </a:xfrm>
          <a:prstGeom prst="roundRect">
            <a:avLst>
              <a:gd name="adj" fmla="val 41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566160" cy="91440"/>
          </a:xfrm>
          <a:prstGeom prst="roundRect">
            <a:avLst>
              <a:gd name="adj" fmla="val 16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566160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594360" y="3054096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can name 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branches of government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3840480"/>
          </a:xfrm>
          <a:prstGeom prst="roundRect">
            <a:avLst>
              <a:gd name="adj" fmla="val 4103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566160" cy="91440"/>
          </a:xfrm>
          <a:prstGeom prst="roundRect">
            <a:avLst>
              <a:gd name="adj" fmla="val 16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356616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57276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400" dirty="0"/>
          </a:p>
        </p:txBody>
      </p:sp>
      <p:sp>
        <p:nvSpPr>
          <p:cNvPr id="15" name="Text 13"/>
          <p:cNvSpPr/>
          <p:nvPr/>
        </p:nvSpPr>
        <p:spPr>
          <a:xfrm>
            <a:off x="4434840" y="3054096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eligible voters under 30 did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vote in 2022 midterms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38160" y="1371600"/>
            <a:ext cx="3566160" cy="3840480"/>
          </a:xfrm>
          <a:prstGeom prst="roundRect">
            <a:avLst>
              <a:gd name="adj" fmla="val 41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371600"/>
            <a:ext cx="3566160" cy="91440"/>
          </a:xfrm>
          <a:prstGeom prst="roundRect">
            <a:avLst>
              <a:gd name="adj" fmla="val 16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566160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0" y="1572768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8400" dirty="0"/>
          </a:p>
        </p:txBody>
      </p:sp>
      <p:sp>
        <p:nvSpPr>
          <p:cNvPr id="20" name="Text 18"/>
          <p:cNvSpPr/>
          <p:nvPr/>
        </p:nvSpPr>
        <p:spPr>
          <a:xfrm>
            <a:off x="8275320" y="3054096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say students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basic civics knowledge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11274552" cy="749808"/>
          </a:xfrm>
          <a:prstGeom prst="roundRect">
            <a:avLst>
              <a:gd name="adj" fmla="val 1463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182880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5394960"/>
            <a:ext cx="10789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America approaches its 250th birthday, civic illiteracy has reached a national crisis — and no scalable, AI-powered solution exists to address 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Dimension of Civic Life.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371600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408176"/>
            <a:ext cx="362102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0352" y="15361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517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Civic Tutor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2176272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paths powered by AI — from the Constitution to current legislation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06240" y="1371600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06240" y="1408176"/>
            <a:ext cx="3621024" cy="36576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1536192"/>
            <a:ext cx="530352" cy="530352"/>
          </a:xfrm>
          <a:prstGeom prst="ellipse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70832" y="1517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Civics Feed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70832" y="2176272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news contextualized through a civic lens, keeping users informed and engaged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1371600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65008" y="1371600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065008" y="1408176"/>
            <a:ext cx="362102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47888" y="1536192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0" y="15179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887968" y="15544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Tracker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2176272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real bills in Congress and your state legislature; understand how laws are made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3950208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7472" y="3950208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7472" y="3986784"/>
            <a:ext cx="3621024" cy="36576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30352" y="4114800"/>
            <a:ext cx="530352" cy="530352"/>
          </a:xfrm>
          <a:prstGeom prst="ellipse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" y="4096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70432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Debates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2064" y="4754880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moderated civic discussion forums that build democratic discourse skills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3950208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206240" y="3950208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206240" y="3986784"/>
            <a:ext cx="3621024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389120" y="4114800"/>
            <a:ext cx="530352" cy="530352"/>
          </a:xfrm>
          <a:prstGeom prst="ellipse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70832" y="4096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029200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Progress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370832" y="4754880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challenges, quizzes, badges, and leaderboards that make learning addictive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65008" y="3950208"/>
            <a:ext cx="3621024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065008" y="3950208"/>
            <a:ext cx="3621024" cy="73152"/>
          </a:xfrm>
          <a:prstGeom prst="roundRect">
            <a:avLst>
              <a:gd name="adj" fmla="val 175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065008" y="3986784"/>
            <a:ext cx="3621024" cy="36576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247888" y="4114800"/>
            <a:ext cx="530352" cy="530352"/>
          </a:xfrm>
          <a:prstGeom prst="ellipse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0" y="40965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8887968" y="413308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Analytics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229600" y="4754880"/>
            <a:ext cx="331012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educators and administrators to track civic literacy growth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America250 Moment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'Civix250' is purpose-built for this cultural moment. No other platform is positioned to be the civic engagement tool of the Semiquincentennial.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401568"/>
            <a:ext cx="10058400" cy="5486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09928" y="324612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3611880"/>
            <a:ext cx="2523744" cy="2487168"/>
          </a:xfrm>
          <a:prstGeom prst="roundRect">
            <a:avLst>
              <a:gd name="adj" fmla="val 441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0120" y="3611880"/>
            <a:ext cx="2523744" cy="91440"/>
          </a:xfrm>
          <a:prstGeom prst="roundRect">
            <a:avLst>
              <a:gd name="adj" fmla="val 12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3657600"/>
            <a:ext cx="2523744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767328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Primaries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407408"/>
            <a:ext cx="226771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civic interest nationally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5112" y="3246120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21024" y="201168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21024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75304" y="3611880"/>
            <a:ext cx="2523744" cy="2487168"/>
          </a:xfrm>
          <a:prstGeom prst="roundRect">
            <a:avLst>
              <a:gd name="adj" fmla="val 4412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575304" y="3611880"/>
            <a:ext cx="2523744" cy="91440"/>
          </a:xfrm>
          <a:prstGeom prst="roundRect">
            <a:avLst>
              <a:gd name="adj" fmla="val 120000"/>
            </a:avLst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75304" y="3657600"/>
            <a:ext cx="2523744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94176" y="3767328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America's 250th Birthday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94176" y="4407408"/>
            <a:ext cx="226771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civic celebration — America250 partner opportunity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0296" y="3246120"/>
            <a:ext cx="329184" cy="32918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36208" y="201168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36208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0488" y="3611880"/>
            <a:ext cx="2523744" cy="2487168"/>
          </a:xfrm>
          <a:prstGeom prst="roundRect">
            <a:avLst>
              <a:gd name="adj" fmla="val 441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90488" y="3611880"/>
            <a:ext cx="2523744" cy="91440"/>
          </a:xfrm>
          <a:prstGeom prst="roundRect">
            <a:avLst>
              <a:gd name="adj" fmla="val 12000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90488" y="3657600"/>
            <a:ext cx="2523744" cy="54864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3767328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Elections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4407408"/>
            <a:ext cx="226771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civic engagement moment every 2 years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55480" y="3246120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851392" y="2011680"/>
            <a:ext cx="24688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851392" y="20116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805672" y="3611880"/>
            <a:ext cx="2523744" cy="2487168"/>
          </a:xfrm>
          <a:prstGeom prst="roundRect">
            <a:avLst>
              <a:gd name="adj" fmla="val 4412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805672" y="3611880"/>
            <a:ext cx="2523744" cy="91440"/>
          </a:xfrm>
          <a:prstGeom prst="roundRect">
            <a:avLst>
              <a:gd name="adj" fmla="val 120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805672" y="3657600"/>
            <a:ext cx="2523744" cy="5486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24544" y="3767328"/>
            <a:ext cx="22677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Growth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24544" y="4407408"/>
            <a:ext cx="226771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becomes the civic habit for a generation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User Groups, One Ecosystem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353312"/>
            <a:ext cx="3694176" cy="52578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3694176" cy="1280160"/>
          </a:xfrm>
          <a:prstGeom prst="roundRect">
            <a:avLst>
              <a:gd name="adj" fmla="val 1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2304288"/>
            <a:ext cx="369417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1426464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38912" y="1993392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" y="2697480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14–30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017520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60M+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38912" y="3639312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" y="3950208"/>
            <a:ext cx="314553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" y="41330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409651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77824" y="40599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civic quizzes and challenges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" y="45811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454456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77824" y="45079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explains complex topics simply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" y="5029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" y="49926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77824" y="49560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 of civic achievements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" y="54772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" y="54406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7824" y="540410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tracker keeps them policy-aware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79392" y="1353312"/>
            <a:ext cx="3694176" cy="52578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79392" y="1353312"/>
            <a:ext cx="3694176" cy="1280160"/>
          </a:xfrm>
          <a:prstGeom prst="roundRect">
            <a:avLst>
              <a:gd name="adj" fmla="val 12857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79392" y="2304288"/>
            <a:ext cx="3694176" cy="329184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279392" y="1426464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370832" y="1993392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Schools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370832" y="2697480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&amp; Higher 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70832" y="3017520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3.7M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4370832" y="3639312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3950208"/>
            <a:ext cx="314553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535424" y="41330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535424" y="409651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9744" y="40599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Classroom-ready civic content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35424" y="45811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35424" y="454456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9744" y="45079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progress dashboards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35424" y="5029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35424" y="49926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9744" y="49560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to AP Gov, Civics standards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35424" y="54772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35424" y="54406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09744" y="540410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 or replace textbooks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211312" y="1353312"/>
            <a:ext cx="3694176" cy="5257800"/>
          </a:xfrm>
          <a:prstGeom prst="roundRect">
            <a:avLst>
              <a:gd name="adj" fmla="val 4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5400000" algn="bl" rotWithShape="0">
              <a:srgbClr val="CBD5E1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8211312" y="1353312"/>
            <a:ext cx="3694176" cy="1280160"/>
          </a:xfrm>
          <a:prstGeom prst="roundRect">
            <a:avLst>
              <a:gd name="adj" fmla="val 1285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211312" y="2304288"/>
            <a:ext cx="3694176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11312" y="1426464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8302752" y="1993392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Orgs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Libraries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302752" y="2697480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02752" y="3017520"/>
            <a:ext cx="35112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17K+</a:t>
            </a:r>
            <a:endParaRPr lang="en-US" sz="4000" dirty="0"/>
          </a:p>
        </p:txBody>
      </p:sp>
      <p:sp>
        <p:nvSpPr>
          <p:cNvPr id="55" name="Text 53"/>
          <p:cNvSpPr/>
          <p:nvPr/>
        </p:nvSpPr>
        <p:spPr>
          <a:xfrm>
            <a:off x="8302752" y="3639312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libraries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485632" y="3950208"/>
            <a:ext cx="3145536" cy="182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8467344" y="413308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467344" y="409651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41664" y="40599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education resources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467344" y="458114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8467344" y="4544568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741664" y="450799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 forums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467344" y="5029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467344" y="49926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741664" y="49560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Legislative tracking for advocates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8467344" y="5477256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467344" y="5440680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741664" y="540410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Nonpartisan, trustworthy framing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188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OPPORTUNITIES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20624"/>
            <a:ext cx="10972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Join the Movement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3694176" cy="5047488"/>
          </a:xfrm>
          <a:prstGeom prst="roundRect">
            <a:avLst>
              <a:gd name="adj" fmla="val 396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6072" y="1243584"/>
            <a:ext cx="3236976" cy="347472"/>
          </a:xfrm>
          <a:prstGeom prst="roundRect">
            <a:avLst>
              <a:gd name="adj" fmla="val 2105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243584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4632" y="2157984"/>
            <a:ext cx="3419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Departments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Education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" y="2907792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embedded in state civic curriculum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401568"/>
            <a:ext cx="3145536" cy="18288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080" y="3621024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35478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Co-branded platform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0965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" y="4023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training and PD sessions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0392" y="44988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all launch PR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047488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0392" y="49743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 seat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79392" y="1389888"/>
            <a:ext cx="3694176" cy="5047488"/>
          </a:xfrm>
          <a:prstGeom prst="roundRect">
            <a:avLst>
              <a:gd name="adj" fmla="val 3960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07992" y="1243584"/>
            <a:ext cx="3236976" cy="347472"/>
          </a:xfrm>
          <a:prstGeom prst="roundRect">
            <a:avLst>
              <a:gd name="adj" fmla="val 21053"/>
            </a:avLst>
          </a:prstGeom>
          <a:solidFill>
            <a:srgbClr val="FEF9C3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07992" y="1243584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PARTNER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79392" y="155448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16552" y="2157984"/>
            <a:ext cx="3419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16552" y="2907792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+ co-branded civic programs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53712" y="3401568"/>
            <a:ext cx="3145536" cy="182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3621024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82312" y="35478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community modules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4096512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82312" y="4023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content creation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4572000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82312" y="44988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grant applications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5047488"/>
            <a:ext cx="128016" cy="128016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82312" y="49743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co-sponsorship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11312" y="1389888"/>
            <a:ext cx="3694176" cy="5047488"/>
          </a:xfrm>
          <a:prstGeom prst="roundRect">
            <a:avLst>
              <a:gd name="adj" fmla="val 396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439912" y="1243584"/>
            <a:ext cx="3236976" cy="347472"/>
          </a:xfrm>
          <a:prstGeom prst="roundRect">
            <a:avLst>
              <a:gd name="adj" fmla="val 2105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439912" y="1243584"/>
            <a:ext cx="32369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PARTNER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11312" y="1554480"/>
            <a:ext cx="3694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348472" y="2157984"/>
            <a:ext cx="34198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Publishing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348472" y="2907792"/>
            <a:ext cx="34198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integration + shared audiences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85632" y="3401568"/>
            <a:ext cx="3145536" cy="1828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8503920" y="3621024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714232" y="354787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Civics-in-the-news content feed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503920" y="40965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714232" y="402336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Cross-promotion to readers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503920" y="4572000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714232" y="44988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civic explainer series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03920" y="5047488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714232" y="497433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on civic trends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73952"/>
            <a:ext cx="11247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partnerships are nonpartisan, noncommercial in content, and mission-driven.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Civix250 Wins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374904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1298448"/>
            <a:ext cx="1783080" cy="4754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87952" y="129844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97880" y="1298448"/>
            <a:ext cx="178308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71032" y="129844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iCivics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1298448"/>
            <a:ext cx="201168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54112" y="129844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92640" y="1298448"/>
            <a:ext cx="1783080" cy="47548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765792" y="1298448"/>
            <a:ext cx="1691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Newsela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7739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0624" y="1773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Tutoring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17739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69664" y="1773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17739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52744" y="1773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80960" y="17739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35824" y="17739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92640" y="17739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747504" y="1773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2231136"/>
            <a:ext cx="3749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0624" y="22311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Legislative Tracker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0" y="22311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69664" y="2231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897880" y="22311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52744" y="2231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0" y="2231136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35824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692640" y="22311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747504" y="2231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26883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0624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Events Integration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0" y="26883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69664" y="26883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97880" y="26883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52744" y="26883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680960" y="26883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735824" y="26883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9692640" y="26883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747504" y="26883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65760" y="3145536"/>
            <a:ext cx="3749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20624" y="31455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Badges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114800" y="31455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169664" y="31455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897880" y="31455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952744" y="31455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7680960" y="3145536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735824" y="3145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9692640" y="31455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747504" y="31455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65760" y="36027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20624" y="36027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Discussion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114800" y="36027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69664" y="36027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897880" y="36027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952744" y="36027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680960" y="36027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735824" y="36027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9692640" y="36027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747504" y="36027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65760" y="4059936"/>
            <a:ext cx="3749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20624" y="4059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Brand Alignment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114800" y="40599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169664" y="4059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897880" y="40599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952744" y="4059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680960" y="4059936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735824" y="40599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9692640" y="4059936"/>
            <a:ext cx="17830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747504" y="40599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65760" y="4517136"/>
            <a:ext cx="3749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20624" y="45171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Access Tier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4114800" y="4517136"/>
            <a:ext cx="178308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169664" y="4517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897880" y="45171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952744" y="4517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7680960" y="451713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735824" y="4517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9692640" y="4517136"/>
            <a:ext cx="1783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747504" y="451713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65760" y="6035040"/>
            <a:ext cx="11457432" cy="594360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365760" y="6035040"/>
            <a:ext cx="182880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713232" y="603504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only platform combining AI education, real-time legislation, news, and community — purpose-built for the America 250 moment.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Shape 88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234086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2304288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AI-powered platform deployed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80944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4944" y="2907792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set: Learn, Track, Engage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584448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3511296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legislative tracking active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87952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151376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4944" y="4114800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progress system live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79145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944" y="4718304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design complete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5394960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5358384"/>
            <a:ext cx="237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944" y="5321808"/>
            <a:ext cx="4279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 testing underway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74320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640080"/>
            <a:ext cx="6217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50-State Impact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5925312" y="1920240"/>
            <a:ext cx="54864" cy="6583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97296" y="1664208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6208" y="1627632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36208" y="1627632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61504" y="162763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District Pilots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61504" y="195681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pilot programs with school districts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25312" y="2871216"/>
            <a:ext cx="54864" cy="6583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797296" y="2615184"/>
            <a:ext cx="310896" cy="310896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36208" y="2578608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36208" y="257860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61504" y="2578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America250 July 4th Launch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61504" y="290779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national campaign for 250th anniversary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25312" y="3822192"/>
            <a:ext cx="54864" cy="6583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97296" y="3566160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36208" y="3529584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36208" y="3529584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61504" y="352958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System Partnerships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461504" y="3858768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library networks across key states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25312" y="4773168"/>
            <a:ext cx="54864" cy="65836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797296" y="4517136"/>
            <a:ext cx="310896" cy="310896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236208" y="4480560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36208" y="4480560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61504" y="44805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Election Cycle Features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461504" y="4809744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education and election engagement tools go live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97296" y="5468112"/>
            <a:ext cx="310896" cy="310896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236208" y="5431536"/>
            <a:ext cx="1133856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236208" y="5431536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461504" y="543153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50-State School District Rollout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61504" y="576072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across all US school districts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12344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0972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5650992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914400" cy="239572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1389888"/>
            <a:ext cx="365760" cy="2395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2336" y="152704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0624" y="2048256"/>
            <a:ext cx="7680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591056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Endorsement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121408"/>
            <a:ext cx="4462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partnership or 'recommended resource' designation to legitimize and accelerate adoption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36208" y="1389888"/>
            <a:ext cx="5650992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36208" y="1389888"/>
            <a:ext cx="914400" cy="2395728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84848" y="1389888"/>
            <a:ext cx="365760" cy="23957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91072" y="152704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048256"/>
            <a:ext cx="7680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📣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60336" y="1591056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Access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0336" y="2121408"/>
            <a:ext cx="4462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reach your members, students, libraries, or subscribers through newsletters and 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950208"/>
            <a:ext cx="5650992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950208"/>
            <a:ext cx="914400" cy="2395728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96112" y="3950208"/>
            <a:ext cx="365760" cy="23957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408736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0624" y="4608576"/>
            <a:ext cx="7680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✏️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371600" y="4151376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Collaboration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681728"/>
            <a:ext cx="4462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 civics content, lesson plans, or civic challenges that serve both our audiences and your mission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6208" y="3950208"/>
            <a:ext cx="5650992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CBD5E1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36208" y="3950208"/>
            <a:ext cx="914400" cy="2395728"/>
          </a:xfrm>
          <a:prstGeom prst="roundRect">
            <a:avLst>
              <a:gd name="adj" fmla="val 16000"/>
            </a:avLst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784848" y="3950208"/>
            <a:ext cx="365760" cy="2395728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91072" y="4087368"/>
            <a:ext cx="804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09360" y="4608576"/>
            <a:ext cx="7680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60336" y="4151376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&amp; Funding Connections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0336" y="4681728"/>
            <a:ext cx="44622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civic education grant opportunities or joint funding applications for scale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638544"/>
            <a:ext cx="12188952" cy="219456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0" y="6638544"/>
            <a:ext cx="201168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65760" y="663854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8229600" cy="8229600"/>
          </a:xfrm>
          <a:prstGeom prst="ellipse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7315200" cy="7315200"/>
          </a:xfrm>
          <a:prstGeom prst="ellipse">
            <a:avLst/>
          </a:prstGeom>
          <a:solidFill>
            <a:srgbClr val="0A25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01168"/>
            <a:ext cx="12188952" cy="91440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1247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Civically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America</a:t>
            </a:r>
            <a:endParaRPr lang="en-US" sz="5800" dirty="0"/>
          </a:p>
        </p:txBody>
      </p:sp>
      <p:sp>
        <p:nvSpPr>
          <p:cNvPr id="8" name="Shape 6"/>
          <p:cNvSpPr/>
          <p:nvPr/>
        </p:nvSpPr>
        <p:spPr>
          <a:xfrm>
            <a:off x="4114800" y="3364992"/>
            <a:ext cx="3959352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3547872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4, 2026 is not just a birthday — it's an opportunity to reset the civic literacy of a nation.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 is the platform built for this moment. We'd love to build it with you.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4773168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86000" y="47731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Call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4773168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47731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5650992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civix250.ai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03504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"Democracy is not a spectator sport."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656832"/>
            <a:ext cx="12188952" cy="100584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0" y="6757416"/>
            <a:ext cx="12188952" cy="1005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883</Words>
  <Application>Microsoft Macintosh PowerPoint</Application>
  <PresentationFormat>Widescreen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Protim  Ghosh</cp:lastModifiedBy>
  <cp:revision>1</cp:revision>
  <dcterms:created xsi:type="dcterms:W3CDTF">2026-06-04T18:35:07Z</dcterms:created>
  <dcterms:modified xsi:type="dcterms:W3CDTF">2026-08-27T10:00:06Z</dcterms:modified>
</cp:coreProperties>
</file>