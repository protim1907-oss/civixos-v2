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4427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457200"/>
            <a:ext cx="54864" cy="548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412480" y="1188720"/>
            <a:ext cx="54864" cy="548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0" y="1645920"/>
            <a:ext cx="54864" cy="548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0" y="822960"/>
            <a:ext cx="54864" cy="548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0" y="731520"/>
            <a:ext cx="54864" cy="548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3730A3">
              <a:alpha val="30000"/>
            </a:srgbClr>
          </a:solidFill>
          <a:ln w="12700">
            <a:solidFill>
              <a:srgbClr val="4F46E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6400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America's Civic Intelligence Platform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civic education, legislative tracking, and community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— built for America's 250th anniversary.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219456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Proposal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civixos-v2.vercel.app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CIVIC CRISIS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651760" cy="2926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4173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74320" y="2606040"/>
            <a:ext cx="2651760" cy="12344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Americans can name all 3 branches of government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143000"/>
            <a:ext cx="2651760" cy="292608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14173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200400" y="2606040"/>
            <a:ext cx="2651760" cy="12344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eligible voters under 30 did not vote in 2022 midterms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143000"/>
            <a:ext cx="2651760" cy="2926080"/>
          </a:xfrm>
          <a:prstGeom prst="rect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14173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126480" y="2606040"/>
            <a:ext cx="2651760" cy="12344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teachers say students lack basic civics knowledge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" y="429768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America approaches its 250th birthday, civic illiteracy has reached a national crisis — 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 scalable, AI-powered solution exists to address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CIVIX250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Every Dimension of Civic Life.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600200"/>
            <a:ext cx="2651760" cy="1371600"/>
          </a:xfrm>
          <a:prstGeom prst="rect">
            <a:avLst/>
          </a:prstGeom>
          <a:solidFill>
            <a:srgbClr val="3730A3">
              <a:alpha val="70000"/>
            </a:srgbClr>
          </a:solidFill>
          <a:ln w="12700">
            <a:solidFill>
              <a:srgbClr val="4F46E5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73736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099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Civic Tutor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2103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paths powered by AI — from the Constitution to current legislation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600200"/>
            <a:ext cx="2651760" cy="1371600"/>
          </a:xfrm>
          <a:prstGeom prst="rect">
            <a:avLst/>
          </a:prstGeom>
          <a:solidFill>
            <a:srgbClr val="3730A3">
              <a:alpha val="70000"/>
            </a:srgbClr>
          </a:solidFill>
          <a:ln w="12700">
            <a:solidFill>
              <a:srgbClr val="4F46E5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73736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03320" y="17099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Civics Feed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291840" y="2103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news contextualized through a civic lens, keeping users informed and engaged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80760" y="1600200"/>
            <a:ext cx="2651760" cy="1371600"/>
          </a:xfrm>
          <a:prstGeom prst="rect">
            <a:avLst/>
          </a:prstGeom>
          <a:solidFill>
            <a:srgbClr val="3730A3">
              <a:alpha val="70000"/>
            </a:srgbClr>
          </a:solidFill>
          <a:ln w="12700">
            <a:solidFill>
              <a:srgbClr val="4F46E5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173736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83680" y="17099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Legislative Tracker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172200" y="2103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real bills in Congress and your state legislature; understand how laws are made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20040" y="3154680"/>
            <a:ext cx="2651760" cy="1371600"/>
          </a:xfrm>
          <a:prstGeom prst="rect">
            <a:avLst/>
          </a:prstGeom>
          <a:solidFill>
            <a:srgbClr val="3730A3">
              <a:alpha val="70000"/>
            </a:srgbClr>
          </a:solidFill>
          <a:ln w="12700">
            <a:solidFill>
              <a:srgbClr val="4F46E5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29184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" y="32644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Debates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11480" y="36576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moderated civic discussion forums that build democratic discourse skills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00400" y="3154680"/>
            <a:ext cx="2651760" cy="1371600"/>
          </a:xfrm>
          <a:prstGeom prst="rect">
            <a:avLst/>
          </a:prstGeom>
          <a:solidFill>
            <a:srgbClr val="3730A3">
              <a:alpha val="70000"/>
            </a:srgbClr>
          </a:solidFill>
          <a:ln w="12700">
            <a:solidFill>
              <a:srgbClr val="4F46E5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3291840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03320" y="32644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Progress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291840" y="36576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challenges, quizzes, badges, and leaderboards that make learning addictive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080760" y="3154680"/>
            <a:ext cx="2651760" cy="1371600"/>
          </a:xfrm>
          <a:prstGeom prst="rect">
            <a:avLst/>
          </a:prstGeom>
          <a:solidFill>
            <a:srgbClr val="3730A3">
              <a:alpha val="70000"/>
            </a:srgbClr>
          </a:solidFill>
          <a:ln w="12700">
            <a:solidFill>
              <a:srgbClr val="4F46E5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0488" y="3291840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583680" y="32644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Analytics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172200" y="36576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for educators and administrators to track civic literacy growth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 — THE AMERICA250 MOMENT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82296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432304"/>
            <a:ext cx="438912" cy="438912"/>
          </a:xfrm>
          <a:prstGeom prst="ellipse">
            <a:avLst/>
          </a:prstGeom>
          <a:solidFill>
            <a:srgbClr val="0D1B4B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920240" cy="12801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primaries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773936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civic interest nationally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71800" y="2432304"/>
            <a:ext cx="438912" cy="438912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68880" y="3063240"/>
            <a:ext cx="1920240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0D1B4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6888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4,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34472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America's 250th Birthday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civic celebration in US history — America250 partner opportunity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74920" y="2432304"/>
            <a:ext cx="438912" cy="438912"/>
          </a:xfrm>
          <a:prstGeom prst="ellipse">
            <a:avLst/>
          </a:prstGeom>
          <a:solidFill>
            <a:srgbClr val="0D1B4B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1005840"/>
            <a:ext cx="1920240" cy="12801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0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1389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Elections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1773936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civic engagement moment every 2 years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78040" y="2432304"/>
            <a:ext cx="438912" cy="438912"/>
          </a:xfrm>
          <a:prstGeom prst="ellipse">
            <a:avLst/>
          </a:prstGeom>
          <a:solidFill>
            <a:srgbClr val="0D1B4B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675120" y="3063240"/>
            <a:ext cx="1920240" cy="12801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7512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34472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Growth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becomes the civic habit for a generation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'Civix250' is purpose-built for this cultural moment. No other platform is positioned to be the civic engagement tool of the Semiquincentennial.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CIVIX250 SERVES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Core User Groups, One Ecosystem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2697480" cy="33832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1600200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1488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Young Adults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2697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14–30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3017520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civic quizzes and challenges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3355848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explains complex topics simply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3694176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sharing of civic achievements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4032504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tracker keeps them policy-aware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4645152"/>
            <a:ext cx="22402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2920" y="46451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60M+ in the US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0" y="1463040"/>
            <a:ext cx="2697480" cy="338328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112" y="1600200"/>
            <a:ext cx="475488" cy="4754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00400" y="21488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 &amp; Schools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200400" y="2697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K-12 &amp; Higher Ed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337560" y="3017520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Classroom-ready civic content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337560" y="3355848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progress dashboards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337560" y="3694176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to AP Gov, Civics standards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337560" y="4032504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or replace textbooks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429000" y="4645152"/>
            <a:ext cx="22402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429000" y="46451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3.7M teachers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126480" y="1463040"/>
            <a:ext cx="2697480" cy="3383280"/>
          </a:xfrm>
          <a:prstGeom prst="rect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1600200"/>
            <a:ext cx="475488" cy="4754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126480" y="21488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Organizations &amp; Libraries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126480" y="2697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Public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263640" y="3017520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education resources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263640" y="3355848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discussion forums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263640" y="3694176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Legislative tracking for advocates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263640" y="4032504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Nonpartisan, trustworthy framing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355080" y="4645152"/>
            <a:ext cx="22402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6355080" y="46451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17K+ public libraries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 OPPORTUNITIES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697480" cy="3840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11155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15727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Departments of Education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93392"/>
            <a:ext cx="2148840" cy="0"/>
          </a:xfrm>
          <a:prstGeom prst="line">
            <a:avLst/>
          </a:prstGeom>
          <a:noFill/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2057400"/>
            <a:ext cx="269748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embedded in state civic curriculum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platform experience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063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training and PD sessions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474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in all launch PR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886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board seat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051560"/>
            <a:ext cx="2697480" cy="38404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54680" y="11155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PARTNER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54680" y="15727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Nonprofit &amp; Library Systems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29000" y="1993392"/>
            <a:ext cx="214884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54680" y="2057400"/>
            <a:ext cx="269748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 + co-branded civic programs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651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community modules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3063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content creation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3474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grant applications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3886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co-sponsorship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1051560"/>
            <a:ext cx="2697480" cy="384048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80760" y="11155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PARTNER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80760" y="15727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 &amp; Publishing Organizations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55080" y="1993392"/>
            <a:ext cx="214884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80760" y="2057400"/>
            <a:ext cx="269748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integration + shared audiences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2651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Civics-in-the-news content feed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3063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Cross-promotion to readers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474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civic explainer series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3886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sharing on civic trends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partnerships are nonpartisan, noncommercial in content, and mission-driven.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CIVIX250 IS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Competitive Landscape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2194560" cy="411480"/>
          </a:xfrm>
          <a:prstGeom prst="rect">
            <a:avLst/>
          </a:prstGeom>
          <a:solidFill>
            <a:srgbClr val="3730A3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14600" y="1417320"/>
            <a:ext cx="16459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1460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417320"/>
            <a:ext cx="1371600" cy="411480"/>
          </a:xfrm>
          <a:prstGeom prst="rect">
            <a:avLst/>
          </a:prstGeom>
          <a:solidFill>
            <a:srgbClr val="3730A3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iCivics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23560" y="1417320"/>
            <a:ext cx="1463040" cy="411480"/>
          </a:xfrm>
          <a:prstGeom prst="rect">
            <a:avLst/>
          </a:prstGeom>
          <a:solidFill>
            <a:srgbClr val="3730A3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23560" y="1417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Academy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86600" y="1417320"/>
            <a:ext cx="1371600" cy="411480"/>
          </a:xfrm>
          <a:prstGeom prst="rect">
            <a:avLst/>
          </a:prstGeom>
          <a:solidFill>
            <a:srgbClr val="3730A3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8660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Newsela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874520"/>
            <a:ext cx="2194560" cy="365760"/>
          </a:xfrm>
          <a:prstGeom prst="rect">
            <a:avLst/>
          </a:prstGeom>
          <a:solidFill>
            <a:srgbClr val="1A26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Tutoring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1874520"/>
            <a:ext cx="1645920" cy="365760"/>
          </a:xfrm>
          <a:prstGeom prst="rect">
            <a:avLst/>
          </a:prstGeom>
          <a:solidFill>
            <a:srgbClr val="1F30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1460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06240" y="1874520"/>
            <a:ext cx="1371600" cy="365760"/>
          </a:xfrm>
          <a:prstGeom prst="rect">
            <a:avLst/>
          </a:prstGeom>
          <a:solidFill>
            <a:srgbClr val="1A26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0624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23560" y="1874520"/>
            <a:ext cx="1463040" cy="365760"/>
          </a:xfrm>
          <a:prstGeom prst="rect">
            <a:avLst/>
          </a:prstGeom>
          <a:solidFill>
            <a:srgbClr val="1A26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2356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086600" y="1874520"/>
            <a:ext cx="1371600" cy="365760"/>
          </a:xfrm>
          <a:prstGeom prst="rect">
            <a:avLst/>
          </a:prstGeom>
          <a:solidFill>
            <a:srgbClr val="1A26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8660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2276856"/>
            <a:ext cx="2194560" cy="365760"/>
          </a:xfrm>
          <a:prstGeom prst="rect">
            <a:avLst/>
          </a:prstGeom>
          <a:solidFill>
            <a:srgbClr val="0D1B4B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22768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Legislative Tracker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14600" y="2276856"/>
            <a:ext cx="1645920" cy="365760"/>
          </a:xfrm>
          <a:prstGeom prst="rect">
            <a:avLst/>
          </a:prstGeom>
          <a:solidFill>
            <a:srgbClr val="1722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14600" y="22768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06240" y="2276856"/>
            <a:ext cx="1371600" cy="365760"/>
          </a:xfrm>
          <a:prstGeom prst="rect">
            <a:avLst/>
          </a:prstGeom>
          <a:solidFill>
            <a:srgbClr val="0D1B4B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06240" y="22768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23560" y="2276856"/>
            <a:ext cx="1463040" cy="365760"/>
          </a:xfrm>
          <a:prstGeom prst="rect">
            <a:avLst/>
          </a:prstGeom>
          <a:solidFill>
            <a:srgbClr val="0D1B4B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23560" y="22768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086600" y="2276856"/>
            <a:ext cx="1371600" cy="365760"/>
          </a:xfrm>
          <a:prstGeom prst="rect">
            <a:avLst/>
          </a:prstGeom>
          <a:solidFill>
            <a:srgbClr val="0D1B4B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86600" y="22768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2679192"/>
            <a:ext cx="2194560" cy="365760"/>
          </a:xfrm>
          <a:prstGeom prst="rect">
            <a:avLst/>
          </a:prstGeom>
          <a:solidFill>
            <a:srgbClr val="1A26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2679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Events Integration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14600" y="2679192"/>
            <a:ext cx="1645920" cy="365760"/>
          </a:xfrm>
          <a:prstGeom prst="rect">
            <a:avLst/>
          </a:prstGeom>
          <a:solidFill>
            <a:srgbClr val="1F30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514600" y="2679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206240" y="2679192"/>
            <a:ext cx="1371600" cy="365760"/>
          </a:xfrm>
          <a:prstGeom prst="rect">
            <a:avLst/>
          </a:prstGeom>
          <a:solidFill>
            <a:srgbClr val="1A26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206240" y="26791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623560" y="2679192"/>
            <a:ext cx="1463040" cy="365760"/>
          </a:xfrm>
          <a:prstGeom prst="rect">
            <a:avLst/>
          </a:prstGeom>
          <a:solidFill>
            <a:srgbClr val="1A26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623560" y="2679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086600" y="2679192"/>
            <a:ext cx="1371600" cy="365760"/>
          </a:xfrm>
          <a:prstGeom prst="rect">
            <a:avLst/>
          </a:prstGeom>
          <a:solidFill>
            <a:srgbClr val="1A26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086600" y="26791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74320" y="3081528"/>
            <a:ext cx="2194560" cy="365760"/>
          </a:xfrm>
          <a:prstGeom prst="rect">
            <a:avLst/>
          </a:prstGeom>
          <a:solidFill>
            <a:srgbClr val="0D1B4B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" y="3081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&amp; Badges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514600" y="3081528"/>
            <a:ext cx="1645920" cy="365760"/>
          </a:xfrm>
          <a:prstGeom prst="rect">
            <a:avLst/>
          </a:prstGeom>
          <a:solidFill>
            <a:srgbClr val="1722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514600" y="30815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206240" y="3081528"/>
            <a:ext cx="1371600" cy="365760"/>
          </a:xfrm>
          <a:prstGeom prst="rect">
            <a:avLst/>
          </a:prstGeom>
          <a:solidFill>
            <a:srgbClr val="0D1B4B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206240" y="3081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623560" y="3081528"/>
            <a:ext cx="1463040" cy="365760"/>
          </a:xfrm>
          <a:prstGeom prst="rect">
            <a:avLst/>
          </a:prstGeom>
          <a:solidFill>
            <a:srgbClr val="0D1B4B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623560" y="3081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086600" y="3081528"/>
            <a:ext cx="1371600" cy="365760"/>
          </a:xfrm>
          <a:prstGeom prst="rect">
            <a:avLst/>
          </a:prstGeom>
          <a:solidFill>
            <a:srgbClr val="0D1B4B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086600" y="3081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274320" y="3483864"/>
            <a:ext cx="2194560" cy="365760"/>
          </a:xfrm>
          <a:prstGeom prst="rect">
            <a:avLst/>
          </a:prstGeom>
          <a:solidFill>
            <a:srgbClr val="1A26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74320" y="34838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Discussion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514600" y="3483864"/>
            <a:ext cx="1645920" cy="365760"/>
          </a:xfrm>
          <a:prstGeom prst="rect">
            <a:avLst/>
          </a:prstGeom>
          <a:solidFill>
            <a:srgbClr val="1F30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514600" y="34838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4206240" y="3483864"/>
            <a:ext cx="1371600" cy="365760"/>
          </a:xfrm>
          <a:prstGeom prst="rect">
            <a:avLst/>
          </a:prstGeom>
          <a:solidFill>
            <a:srgbClr val="1A26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206240" y="34838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623560" y="3483864"/>
            <a:ext cx="1463040" cy="365760"/>
          </a:xfrm>
          <a:prstGeom prst="rect">
            <a:avLst/>
          </a:prstGeom>
          <a:solidFill>
            <a:srgbClr val="1A26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623560" y="34838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7086600" y="3483864"/>
            <a:ext cx="1371600" cy="365760"/>
          </a:xfrm>
          <a:prstGeom prst="rect">
            <a:avLst/>
          </a:prstGeom>
          <a:solidFill>
            <a:srgbClr val="1A26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086600" y="34838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274320" y="3886200"/>
            <a:ext cx="2194560" cy="365760"/>
          </a:xfrm>
          <a:prstGeom prst="rect">
            <a:avLst/>
          </a:prstGeom>
          <a:solidFill>
            <a:srgbClr val="0D1B4B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7432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America250 Brand Alignment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514600" y="3886200"/>
            <a:ext cx="1645920" cy="365760"/>
          </a:xfrm>
          <a:prstGeom prst="rect">
            <a:avLst/>
          </a:prstGeom>
          <a:solidFill>
            <a:srgbClr val="1722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514600" y="3886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4206240" y="3886200"/>
            <a:ext cx="1371600" cy="365760"/>
          </a:xfrm>
          <a:prstGeom prst="rect">
            <a:avLst/>
          </a:prstGeom>
          <a:solidFill>
            <a:srgbClr val="0D1B4B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206240" y="3886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5623560" y="3886200"/>
            <a:ext cx="1463040" cy="365760"/>
          </a:xfrm>
          <a:prstGeom prst="rect">
            <a:avLst/>
          </a:prstGeom>
          <a:solidFill>
            <a:srgbClr val="0D1B4B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62356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7086600" y="3886200"/>
            <a:ext cx="1371600" cy="365760"/>
          </a:xfrm>
          <a:prstGeom prst="rect">
            <a:avLst/>
          </a:prstGeom>
          <a:solidFill>
            <a:srgbClr val="0D1B4B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086600" y="3886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274320" y="4288536"/>
            <a:ext cx="2194560" cy="365760"/>
          </a:xfrm>
          <a:prstGeom prst="rect">
            <a:avLst/>
          </a:prstGeom>
          <a:solidFill>
            <a:srgbClr val="1A26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274320" y="42885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 Tier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2514600" y="4288536"/>
            <a:ext cx="1645920" cy="365760"/>
          </a:xfrm>
          <a:prstGeom prst="rect">
            <a:avLst/>
          </a:prstGeom>
          <a:solidFill>
            <a:srgbClr val="1F30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2514600" y="42885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4206240" y="4288536"/>
            <a:ext cx="1371600" cy="365760"/>
          </a:xfrm>
          <a:prstGeom prst="rect">
            <a:avLst/>
          </a:prstGeom>
          <a:solidFill>
            <a:srgbClr val="1A26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206240" y="42885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5623560" y="4288536"/>
            <a:ext cx="1463040" cy="365760"/>
          </a:xfrm>
          <a:prstGeom prst="rect">
            <a:avLst/>
          </a:prstGeom>
          <a:solidFill>
            <a:srgbClr val="1A26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5623560" y="42885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7086600" y="4288536"/>
            <a:ext cx="1371600" cy="365760"/>
          </a:xfrm>
          <a:prstGeom prst="rect">
            <a:avLst/>
          </a:prstGeom>
          <a:solidFill>
            <a:srgbClr val="1A266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7086600" y="42885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274320" y="47365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 is the only platform combining AI education, real-time legislation, news, and community — purpose-built for the America 250 moment.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 &amp;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8404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AI-powered platform deployed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4825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feature set: Learn, Track, Engage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237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legislative tracking active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992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Gamification &amp; progress system live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Mobile-responsive design complete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9502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Beta user testing underway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4206240" cy="3840480"/>
          </a:xfrm>
          <a:prstGeom prst="rect">
            <a:avLst/>
          </a:prstGeom>
          <a:solidFill>
            <a:srgbClr val="F8F9FF"/>
          </a:solidFill>
          <a:ln w="12700">
            <a:solidFill>
              <a:srgbClr val="E8EA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1155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ROADMAP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554480"/>
            <a:ext cx="914400" cy="27432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554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06440" y="15270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district pilot programs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194560"/>
            <a:ext cx="9144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06440" y="2167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America250 July 4th launch campaign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834640"/>
            <a:ext cx="914400" cy="27432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2834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06440" y="28072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system partnerships onboarded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3474720"/>
            <a:ext cx="914400" cy="2743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06440" y="34472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cycle engagement features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4114800"/>
            <a:ext cx="914400" cy="27432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4114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06440" y="40873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50-state school district rollout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PARTNERSHIP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Looking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508760"/>
            <a:ext cx="4160520" cy="1508760"/>
          </a:xfrm>
          <a:prstGeom prst="rect">
            <a:avLst/>
          </a:prstGeom>
          <a:solidFill>
            <a:srgbClr val="3730A3">
              <a:alpha val="75000"/>
            </a:srgbClr>
          </a:solidFill>
          <a:ln w="12700">
            <a:solidFill>
              <a:srgbClr val="4F46E5">
                <a:alpha val="6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7830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67335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Endorsement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partnership or 'recommended resource' designation from your organization to legitimize and accelerate adoption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508760"/>
            <a:ext cx="4160520" cy="1508760"/>
          </a:xfrm>
          <a:prstGeom prst="rect">
            <a:avLst/>
          </a:prstGeom>
          <a:solidFill>
            <a:srgbClr val="3730A3">
              <a:alpha val="75000"/>
            </a:srgbClr>
          </a:solidFill>
          <a:ln w="12700">
            <a:solidFill>
              <a:srgbClr val="4F46E5">
                <a:alpha val="6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7830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67335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Access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40680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 reach your members, students, libraries, or subscribers through newsletters, emails, and events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3200400"/>
            <a:ext cx="4160520" cy="1508760"/>
          </a:xfrm>
          <a:prstGeom prst="rect">
            <a:avLst/>
          </a:prstGeom>
          <a:solidFill>
            <a:srgbClr val="3730A3">
              <a:alpha val="75000"/>
            </a:srgbClr>
          </a:solidFill>
          <a:ln w="12700">
            <a:solidFill>
              <a:srgbClr val="4F46E5">
                <a:alpha val="6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4747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33649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Collaboration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05840" y="374904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Co-create civics content, lesson plans, or civic challenges that serve both our audiences and your mission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3200400"/>
            <a:ext cx="4160520" cy="1508760"/>
          </a:xfrm>
          <a:prstGeom prst="rect">
            <a:avLst/>
          </a:prstGeom>
          <a:solidFill>
            <a:srgbClr val="3730A3">
              <a:alpha val="75000"/>
            </a:srgbClr>
          </a:solidFill>
          <a:ln w="12700">
            <a:solidFill>
              <a:srgbClr val="4F46E5">
                <a:alpha val="6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4747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33649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&amp; Funding Connections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40680" y="374904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civic education grant opportunities or joint funding applications for scale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3730A3">
              <a:alpha val="40000"/>
            </a:srgbClr>
          </a:solidFill>
          <a:ln w="12700">
            <a:solidFill>
              <a:srgbClr val="4F46E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IN BUILDING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More Civically Engaged America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4, 2026 is not just a birthday — it's an opportunity to reset the civic literacy of a nation.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 is the platform built for this moment. We'd love to build it with you.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639312"/>
            <a:ext cx="256032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6393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Call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3639312"/>
            <a:ext cx="2560320" cy="54864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36393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Platform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370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civixos-v2.vercel.app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"Democracy is not a spectator sport."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797</Words>
  <Application>Microsoft Macintosh PowerPoint</Application>
  <PresentationFormat>On-screen Show (16:9)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Civix250 Partnership Deck</dc:title>
  <dc:subject>PptxGenJS Presentation</dc:subject>
  <dc:creator>PptxGenJS</dc:creator>
  <cp:lastModifiedBy>Protim  Ghosh</cp:lastModifiedBy>
  <cp:revision>1</cp:revision>
  <dcterms:created xsi:type="dcterms:W3CDTF">2026-05-28T19:27:24Z</dcterms:created>
  <dcterms:modified xsi:type="dcterms:W3CDTF">2026-05-28T19:39:31Z</dcterms:modified>
</cp:coreProperties>
</file>